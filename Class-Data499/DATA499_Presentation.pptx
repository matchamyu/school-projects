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7" r:id="rId2"/>
    <p:sldId id="258" r:id="rId3"/>
    <p:sldId id="259" r:id="rId4"/>
    <p:sldId id="260" r:id="rId5"/>
    <p:sldId id="264" r:id="rId6"/>
    <p:sldId id="266" r:id="rId7"/>
    <p:sldId id="269" r:id="rId8"/>
    <p:sldId id="270" r:id="rId9"/>
    <p:sldId id="271" r:id="rId10"/>
    <p:sldId id="272" r:id="rId11"/>
    <p:sldId id="274" r:id="rId12"/>
    <p:sldId id="275" r:id="rId13"/>
  </p:sldIdLst>
  <p:sldSz cx="9144000" cy="5143500" type="screen16x9"/>
  <p:notesSz cx="6858000" cy="9144000"/>
  <p:embeddedFontLst>
    <p:embeddedFont>
      <p:font typeface="Merriweather" panose="00000500000000000000" pitchFamily="2" charset="0"/>
      <p:regular r:id="rId15"/>
      <p:bold r:id="rId16"/>
      <p:italic r:id="rId17"/>
      <p:boldItalic r:id="rId18"/>
    </p:embeddedFont>
    <p:embeddedFont>
      <p:font typeface="Roboto" panose="02000000000000000000"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828" y="7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ac59994657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ac59994657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Peyton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adf90faadb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adf90faadb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ac59994657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ac59994657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a:p>
            <a:pPr marL="0" lvl="0" indent="0" algn="l" rtl="0">
              <a:spcBef>
                <a:spcPts val="0"/>
              </a:spcBef>
              <a:spcAft>
                <a:spcPts val="0"/>
              </a:spcAft>
              <a:buNone/>
            </a:pPr>
            <a:r>
              <a:rPr lang="en" dirty="0"/>
              <a:t>Initial Transaction count before cleaning: 7,386,138</a:t>
            </a:r>
            <a:endParaRPr dirty="0"/>
          </a:p>
          <a:p>
            <a:pPr marL="0" lvl="0" indent="0" algn="l" rtl="0">
              <a:spcBef>
                <a:spcPts val="0"/>
              </a:spcBef>
              <a:spcAft>
                <a:spcPts val="0"/>
              </a:spcAft>
              <a:buNone/>
            </a:pPr>
            <a:r>
              <a:rPr lang="en" dirty="0"/>
              <a:t>Initial Customer Records: 30,903</a:t>
            </a:r>
            <a:endParaRPr dirty="0"/>
          </a:p>
          <a:p>
            <a:pPr marL="0" lvl="0" indent="0" algn="l" rtl="0">
              <a:spcBef>
                <a:spcPts val="0"/>
              </a:spcBef>
              <a:spcAft>
                <a:spcPts val="0"/>
              </a:spcAft>
              <a:buNone/>
            </a:pPr>
            <a:r>
              <a:rPr lang="en" dirty="0"/>
              <a:t>Customer cleaning steps:</a:t>
            </a:r>
            <a:endParaRPr dirty="0"/>
          </a:p>
          <a:p>
            <a:pPr marL="457200" lvl="0" indent="-298450" algn="l" rtl="0">
              <a:spcBef>
                <a:spcPts val="0"/>
              </a:spcBef>
              <a:spcAft>
                <a:spcPts val="0"/>
              </a:spcAft>
              <a:buSzPts val="1100"/>
              <a:buChar char="-"/>
            </a:pPr>
            <a:r>
              <a:rPr lang="en" dirty="0"/>
              <a:t>Drop unused customer columns</a:t>
            </a:r>
            <a:endParaRPr dirty="0"/>
          </a:p>
          <a:p>
            <a:pPr marL="457200" lvl="0" indent="-298450" algn="l" rtl="0">
              <a:spcBef>
                <a:spcPts val="0"/>
              </a:spcBef>
              <a:spcAft>
                <a:spcPts val="0"/>
              </a:spcAft>
              <a:buSzPts val="1100"/>
              <a:buChar char="-"/>
            </a:pPr>
            <a:r>
              <a:rPr lang="en" dirty="0"/>
              <a:t>Strip whitespace from ORG ID</a:t>
            </a:r>
            <a:endParaRPr dirty="0"/>
          </a:p>
          <a:p>
            <a:pPr marL="457200" lvl="0" indent="-298450" algn="l" rtl="0">
              <a:spcBef>
                <a:spcPts val="0"/>
              </a:spcBef>
              <a:spcAft>
                <a:spcPts val="0"/>
              </a:spcAft>
              <a:buSzPts val="1100"/>
              <a:buChar char="-"/>
            </a:pPr>
            <a:r>
              <a:rPr lang="en" dirty="0"/>
              <a:t>Removed approximately 70 NA/Duplicate ORG IDs</a:t>
            </a:r>
            <a:endParaRPr dirty="0"/>
          </a:p>
          <a:p>
            <a:pPr marL="0" lvl="0" indent="0" algn="l" rtl="0">
              <a:spcBef>
                <a:spcPts val="0"/>
              </a:spcBef>
              <a:spcAft>
                <a:spcPts val="0"/>
              </a:spcAft>
              <a:buNone/>
            </a:pPr>
            <a:r>
              <a:rPr lang="en" dirty="0"/>
              <a:t>Transaction cleaning steps:</a:t>
            </a:r>
            <a:endParaRPr dirty="0"/>
          </a:p>
          <a:p>
            <a:pPr marL="457200" lvl="0" indent="-298450" algn="l" rtl="0">
              <a:spcBef>
                <a:spcPts val="0"/>
              </a:spcBef>
              <a:spcAft>
                <a:spcPts val="0"/>
              </a:spcAft>
              <a:buSzPts val="1100"/>
              <a:buChar char="-"/>
            </a:pPr>
            <a:r>
              <a:rPr lang="en" dirty="0"/>
              <a:t>Keep only transactions that have customer details associated with them</a:t>
            </a:r>
            <a:endParaRPr dirty="0"/>
          </a:p>
          <a:p>
            <a:pPr marL="457200" lvl="0" indent="-298450" algn="l" rtl="0">
              <a:spcBef>
                <a:spcPts val="0"/>
              </a:spcBef>
              <a:spcAft>
                <a:spcPts val="0"/>
              </a:spcAft>
              <a:buSzPts val="1100"/>
              <a:buChar char="-"/>
            </a:pPr>
            <a:r>
              <a:rPr lang="en" dirty="0"/>
              <a:t>Remove all non-digit characters</a:t>
            </a:r>
            <a:endParaRPr dirty="0"/>
          </a:p>
          <a:p>
            <a:pPr marL="457200" lvl="0" indent="-298450" algn="l" rtl="0">
              <a:spcBef>
                <a:spcPts val="0"/>
              </a:spcBef>
              <a:spcAft>
                <a:spcPts val="0"/>
              </a:spcAft>
              <a:buSzPts val="1100"/>
              <a:buChar char="-"/>
            </a:pPr>
            <a:r>
              <a:rPr lang="en" dirty="0"/>
              <a:t>Null out duplicate codes with leading zeros removed, since a code with a 0 in front is treated the same as a code without the zero when retrieving data for it from the itemdb</a:t>
            </a:r>
            <a:endParaRPr dirty="0"/>
          </a:p>
          <a:p>
            <a:pPr marL="457200" lvl="0" indent="-298450" algn="l" rtl="0">
              <a:spcBef>
                <a:spcPts val="0"/>
              </a:spcBef>
              <a:spcAft>
                <a:spcPts val="0"/>
              </a:spcAft>
              <a:buSzPts val="1100"/>
              <a:buChar char="-"/>
            </a:pPr>
            <a:r>
              <a:rPr lang="en" dirty="0"/>
              <a:t>Filter out any product codes that aren’t 11-14 digits in length.</a:t>
            </a:r>
            <a:endParaRPr dirty="0"/>
          </a:p>
          <a:p>
            <a:pPr marL="457200" lvl="0" indent="-298450" algn="l" rtl="0">
              <a:spcBef>
                <a:spcPts val="0"/>
              </a:spcBef>
              <a:spcAft>
                <a:spcPts val="0"/>
              </a:spcAft>
              <a:buSzPts val="1100"/>
              <a:buChar char="-"/>
            </a:pPr>
            <a:r>
              <a:rPr lang="en" dirty="0"/>
              <a:t>Drop any duplicates remaining</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After the transaction cleaning we go back and filter out any customers that now have 0 transactions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After Cleaning counts:</a:t>
            </a:r>
            <a:endParaRPr dirty="0"/>
          </a:p>
          <a:p>
            <a:pPr marL="0" lvl="0" indent="0" algn="l" rtl="0">
              <a:spcBef>
                <a:spcPts val="0"/>
              </a:spcBef>
              <a:spcAft>
                <a:spcPts val="0"/>
              </a:spcAft>
              <a:buNone/>
            </a:pPr>
            <a:r>
              <a:rPr lang="en" dirty="0"/>
              <a:t>Transactions 941,740 (approx 88% reduction)</a:t>
            </a:r>
            <a:endParaRPr dirty="0"/>
          </a:p>
          <a:p>
            <a:pPr marL="0" lvl="0" indent="0" algn="l" rtl="0">
              <a:spcBef>
                <a:spcPts val="0"/>
              </a:spcBef>
              <a:spcAft>
                <a:spcPts val="0"/>
              </a:spcAft>
              <a:buNone/>
            </a:pPr>
            <a:r>
              <a:rPr lang="en" dirty="0"/>
              <a:t>Organizations 6,433</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At this time, missing annual revenue values were filled from the industry median available, and revenue ranges calculated based on annual revenue values, as well as filling any missing Industry SPS, Industry Vertical, and Industry Segment values with ‘Unknown’</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add7f6aa9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add7f6aa9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a:p>
            <a:pPr marL="0" lvl="0" indent="0" algn="l" rtl="0">
              <a:spcBef>
                <a:spcPts val="0"/>
              </a:spcBef>
              <a:spcAft>
                <a:spcPts val="0"/>
              </a:spcAft>
              <a:buNone/>
            </a:pPr>
            <a:r>
              <a:rPr lang="en" dirty="0"/>
              <a:t>Due to time/api limits we set a target of 450,000 items to collect data from the ItemDB api for.</a:t>
            </a:r>
            <a:br>
              <a:rPr lang="en" dirty="0"/>
            </a:br>
            <a:br>
              <a:rPr lang="en" dirty="0"/>
            </a:br>
            <a:r>
              <a:rPr lang="en" dirty="0"/>
              <a:t>This presents a sampling problem where we wanted to maximize the number of organizations we could cover while still staying within our target limit of api calls we’d have to make.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By starting with organizations with the lowest number of transactions and adding more organizations until we hit our target limit, we were able to achieve about 99% coverage of all the organizations we had cleaned transaction data for.</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This 450k sample is what we used for making the api calls.</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ac59994657_1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ac59994657_1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dirty="0"/>
              <a:t>We will be focusing on the modeling and exploration of our data for the rest of the presentation. First well go over some engineered features and log transformations. Then our Exploratory Data Analysis and lastly our ranking approach.</a:t>
            </a:r>
            <a:endParaRPr dirty="0"/>
          </a:p>
          <a:p>
            <a:pPr marL="0" lvl="0" indent="0" algn="l" rtl="0">
              <a:lnSpc>
                <a:spcPct val="115000"/>
              </a:lnSpc>
              <a:spcBef>
                <a:spcPts val="1200"/>
              </a:spcBef>
              <a:spcAft>
                <a:spcPts val="0"/>
              </a:spcAft>
              <a:buClr>
                <a:schemeClr val="dk1"/>
              </a:buClr>
              <a:buSzPts val="1100"/>
              <a:buFont typeface="Arial"/>
              <a:buNone/>
            </a:pPr>
            <a:r>
              <a:rPr lang="en" dirty="0"/>
              <a:t> </a:t>
            </a:r>
            <a:endParaRPr dirty="0"/>
          </a:p>
          <a:p>
            <a:pPr marL="0" lvl="0" indent="0" algn="l" rtl="0">
              <a:lnSpc>
                <a:spcPct val="115000"/>
              </a:lnSpc>
              <a:spcBef>
                <a:spcPts val="1200"/>
              </a:spcBef>
              <a:spcAft>
                <a:spcPts val="0"/>
              </a:spcAft>
              <a:buClr>
                <a:schemeClr val="dk1"/>
              </a:buClr>
              <a:buSzPts val="1100"/>
              <a:buFont typeface="Arial"/>
              <a:buNone/>
            </a:pPr>
            <a:r>
              <a:rPr lang="en" dirty="0"/>
              <a:t>Before jumping into rest of our feature engineering I want to explain the store_gap feature because you’ll hear that label a lot.</a:t>
            </a:r>
            <a:endParaRPr dirty="0"/>
          </a:p>
          <a:p>
            <a:pPr marL="0" lvl="0" indent="0" algn="l" rtl="0">
              <a:lnSpc>
                <a:spcPct val="115000"/>
              </a:lnSpc>
              <a:spcBef>
                <a:spcPts val="1200"/>
              </a:spcBef>
              <a:spcAft>
                <a:spcPts val="0"/>
              </a:spcAft>
              <a:buClr>
                <a:schemeClr val="dk1"/>
              </a:buClr>
              <a:buSzPts val="1100"/>
              <a:buFont typeface="Arial"/>
              <a:buNone/>
            </a:pPr>
            <a:r>
              <a:rPr lang="en" dirty="0"/>
              <a:t>So, “Store_gap” determines if SPS has missed opportunities within the organizations they service.</a:t>
            </a:r>
            <a:endParaRPr dirty="0"/>
          </a:p>
          <a:p>
            <a:pPr marL="0" lvl="0" indent="0" algn="l" rtl="0">
              <a:lnSpc>
                <a:spcPct val="115000"/>
              </a:lnSpc>
              <a:spcBef>
                <a:spcPts val="1200"/>
              </a:spcBef>
              <a:spcAft>
                <a:spcPts val="0"/>
              </a:spcAft>
              <a:buClr>
                <a:schemeClr val="dk1"/>
              </a:buClr>
              <a:buSzPts val="1100"/>
              <a:buFont typeface="Arial"/>
              <a:buNone/>
            </a:pPr>
            <a:r>
              <a:rPr lang="en" dirty="0"/>
              <a:t>We calculated this by taking the variables “customer_unique_store_count” (which was pulled from our API calls) and subtracting that from“customer_total_retailer_connections” which was provided by SPS. </a:t>
            </a:r>
            <a:endParaRPr dirty="0"/>
          </a:p>
          <a:p>
            <a:pPr marL="0" lvl="0" indent="0" algn="l" rtl="0">
              <a:lnSpc>
                <a:spcPct val="115000"/>
              </a:lnSpc>
              <a:spcBef>
                <a:spcPts val="1200"/>
              </a:spcBef>
              <a:spcAft>
                <a:spcPts val="0"/>
              </a:spcAft>
              <a:buClr>
                <a:schemeClr val="dk1"/>
              </a:buClr>
              <a:buSzPts val="1100"/>
              <a:buFont typeface="Arial"/>
              <a:buNone/>
            </a:pPr>
            <a:r>
              <a:rPr lang="en" dirty="0"/>
              <a:t>if unique store count is greater than SPS’s known total retailer then we have evidence that there are missed connections with that organization.</a:t>
            </a:r>
            <a:endParaRPr dirty="0"/>
          </a:p>
          <a:p>
            <a:pPr marL="0" lvl="0" indent="0" algn="l" rtl="0">
              <a:lnSpc>
                <a:spcPct val="115000"/>
              </a:lnSpc>
              <a:spcBef>
                <a:spcPts val="1200"/>
              </a:spcBef>
              <a:spcAft>
                <a:spcPts val="0"/>
              </a:spcAft>
              <a:buClr>
                <a:schemeClr val="dk1"/>
              </a:buClr>
              <a:buSzPts val="1100"/>
              <a:buFont typeface="Arial"/>
              <a:buNone/>
            </a:pPr>
            <a:r>
              <a:rPr lang="en" dirty="0"/>
              <a:t>We then used that Store_gap variable and converted it to a boolean called has_store_gap,</a:t>
            </a:r>
            <a:endParaRPr dirty="0"/>
          </a:p>
          <a:p>
            <a:pPr marL="0" lvl="0" indent="0" algn="l" rtl="0">
              <a:lnSpc>
                <a:spcPct val="115000"/>
              </a:lnSpc>
              <a:spcBef>
                <a:spcPts val="1200"/>
              </a:spcBef>
              <a:spcAft>
                <a:spcPts val="0"/>
              </a:spcAft>
              <a:buClr>
                <a:schemeClr val="dk1"/>
              </a:buClr>
              <a:buSzPts val="1100"/>
              <a:buFont typeface="Arial"/>
              <a:buNone/>
            </a:pPr>
            <a:r>
              <a:rPr lang="en" dirty="0"/>
              <a:t>If Store_gap is greater than or equal to 1 then the Boolean is True. If less than or equal to 0 it is false.</a:t>
            </a:r>
            <a:endParaRPr dirty="0"/>
          </a:p>
          <a:p>
            <a:pPr marL="0" lvl="0" indent="0" algn="l" rtl="0">
              <a:lnSpc>
                <a:spcPct val="115000"/>
              </a:lnSpc>
              <a:spcBef>
                <a:spcPts val="1200"/>
              </a:spcBef>
              <a:spcAft>
                <a:spcPts val="0"/>
              </a:spcAft>
              <a:buClr>
                <a:schemeClr val="dk1"/>
              </a:buClr>
              <a:buSzPts val="1100"/>
              <a:buFont typeface="Arial"/>
              <a:buNone/>
            </a:pPr>
            <a:r>
              <a:rPr lang="en" dirty="0"/>
              <a:t> </a:t>
            </a:r>
            <a:endParaRPr dirty="0"/>
          </a:p>
          <a:p>
            <a:pPr marL="0" lvl="0" indent="0" algn="l" rtl="0">
              <a:lnSpc>
                <a:spcPct val="115000"/>
              </a:lnSpc>
              <a:spcBef>
                <a:spcPts val="1200"/>
              </a:spcBef>
              <a:spcAft>
                <a:spcPts val="0"/>
              </a:spcAft>
              <a:buClr>
                <a:schemeClr val="dk1"/>
              </a:buClr>
              <a:buSzPts val="1100"/>
              <a:buFont typeface="Arial"/>
              <a:buNone/>
            </a:pPr>
            <a:r>
              <a:rPr lang="en" dirty="0"/>
              <a:t>Key points of graph</a:t>
            </a:r>
            <a:endParaRPr dirty="0"/>
          </a:p>
          <a:p>
            <a:pPr marL="0" lvl="0" indent="0" algn="l" rtl="0">
              <a:spcBef>
                <a:spcPts val="1200"/>
              </a:spcBef>
              <a:spcAft>
                <a:spcPts val="0"/>
              </a:spcAft>
              <a:buNone/>
            </a:pPr>
            <a:endParaRPr dirty="0"/>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adf6eee06f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adf6eee06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JO-</a:t>
            </a:r>
            <a:endParaRPr/>
          </a:p>
          <a:p>
            <a:pPr marL="0" lvl="0" indent="0" algn="l" rtl="0">
              <a:spcBef>
                <a:spcPts val="0"/>
              </a:spcBef>
              <a:spcAft>
                <a:spcPts val="0"/>
              </a:spcAft>
              <a:buNone/>
            </a:pPr>
            <a:r>
              <a:rPr lang="en"/>
              <a:t>Here we analyzed the number of organizations with and without store gaps by industry verticals.</a:t>
            </a:r>
            <a:endParaRPr/>
          </a:p>
          <a:p>
            <a:pPr marL="0" lvl="0" indent="0" algn="l" rtl="0">
              <a:spcBef>
                <a:spcPts val="0"/>
              </a:spcBef>
              <a:spcAft>
                <a:spcPts val="0"/>
              </a:spcAft>
              <a:buNone/>
            </a:pPr>
            <a:r>
              <a:rPr lang="en"/>
              <a:t>At the top you can see Food and Drug dominates industry vertical in terms of quantity. Nearly 30% of all ogranizations are of the food and drug vertical</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Another thing to note is that “Hardlines - Home” and “Industrial” seem to have “weak points” where the number of orgs with store gaps is larger than those without store gaps.</a:t>
            </a:r>
            <a:endParaRPr/>
          </a:p>
          <a:p>
            <a:pPr marL="0" lvl="0" indent="0" algn="l" rtl="0">
              <a:spcBef>
                <a:spcPts val="0"/>
              </a:spcBef>
              <a:spcAft>
                <a:spcPts val="0"/>
              </a:spcAft>
              <a:buNone/>
            </a:pPr>
            <a:endParaRPr/>
          </a:p>
          <a:p>
            <a:pPr marL="0" lvl="0" indent="0" algn="l" rtl="0">
              <a:spcBef>
                <a:spcPts val="0"/>
              </a:spcBef>
              <a:spcAft>
                <a:spcPts val="0"/>
              </a:spcAft>
              <a:buNone/>
            </a:pPr>
            <a:r>
              <a:rPr lang="en"/>
              <a:t>Overall, a majority of vertices have more organizations without store_gaps than with store_gaps.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adf6eee06f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adf6eee06f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a:p>
            <a:pPr marL="0" lvl="0" indent="0" algn="l" rtl="0">
              <a:spcBef>
                <a:spcPts val="0"/>
              </a:spcBef>
              <a:spcAft>
                <a:spcPts val="0"/>
              </a:spcAft>
              <a:buNone/>
            </a:pPr>
            <a:r>
              <a:rPr lang="en" dirty="0"/>
              <a:t>Throughout the analysis, we tested various ranking and modeling approaches to determine the strongest method for selecting our top 10 customers. On this slide, we highlight two of the ranking strategies we experimented with. On the following slide, we walk through why we ultimately shifted to our final approach.</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For Method 1, we constructed a weighted scoring system using the key performance metrics. These metrics included:</a:t>
            </a:r>
            <a:endParaRPr dirty="0"/>
          </a:p>
          <a:p>
            <a:pPr marL="0" lvl="0" indent="0" algn="l" rtl="0">
              <a:spcBef>
                <a:spcPts val="0"/>
              </a:spcBef>
              <a:spcAft>
                <a:spcPts val="0"/>
              </a:spcAft>
              <a:buNone/>
            </a:pPr>
            <a:r>
              <a:rPr lang="en" dirty="0"/>
              <a:t>Store Gap</a:t>
            </a:r>
            <a:endParaRPr dirty="0"/>
          </a:p>
          <a:p>
            <a:pPr marL="0" lvl="0" indent="0" algn="l" rtl="0">
              <a:spcBef>
                <a:spcPts val="0"/>
              </a:spcBef>
              <a:spcAft>
                <a:spcPts val="0"/>
              </a:spcAft>
              <a:buNone/>
            </a:pPr>
            <a:r>
              <a:rPr lang="en" dirty="0"/>
              <a:t>Velocity per Store, calculated as total transactions divided by retailer connections</a:t>
            </a:r>
            <a:endParaRPr dirty="0"/>
          </a:p>
          <a:p>
            <a:pPr marL="0" lvl="0" indent="0" algn="l" rtl="0">
              <a:spcBef>
                <a:spcPts val="0"/>
              </a:spcBef>
              <a:spcAft>
                <a:spcPts val="0"/>
              </a:spcAft>
              <a:buNone/>
            </a:pPr>
            <a:r>
              <a:rPr lang="en" dirty="0"/>
              <a:t>Document Flow per Store, calculated as average document flow divided by retailer connections</a:t>
            </a:r>
            <a:endParaRPr dirty="0"/>
          </a:p>
          <a:p>
            <a:pPr marL="0" lvl="0" indent="0" algn="l" rtl="0">
              <a:spcBef>
                <a:spcPts val="0"/>
              </a:spcBef>
              <a:spcAft>
                <a:spcPts val="0"/>
              </a:spcAft>
              <a:buNone/>
            </a:pPr>
            <a:r>
              <a:rPr lang="en" dirty="0"/>
              <a:t>Years with SPS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Each metric was normalized, and then weighted according to importance:</a:t>
            </a:r>
            <a:endParaRPr dirty="0"/>
          </a:p>
          <a:p>
            <a:pPr marL="0" lvl="0" indent="0" algn="l" rtl="0">
              <a:spcBef>
                <a:spcPts val="0"/>
              </a:spcBef>
              <a:spcAft>
                <a:spcPts val="0"/>
              </a:spcAft>
              <a:buNone/>
            </a:pPr>
            <a:r>
              <a:rPr lang="en" dirty="0"/>
              <a:t>45% Store Gap, 25% Document Flow, 15% Velocity, and 15% Years of Service.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After applying the weights to the normalized values, we calculated a final opportunity score for each customer, which produced the ranked list.</a:t>
            </a:r>
            <a:endParaRPr dirty="0"/>
          </a:p>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adf90faadb_1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adf90faadb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a:p>
            <a:pPr marL="0" lvl="0" indent="0" algn="l" rtl="0">
              <a:spcBef>
                <a:spcPts val="0"/>
              </a:spcBef>
              <a:spcAft>
                <a:spcPts val="0"/>
              </a:spcAft>
              <a:buNone/>
            </a:pPr>
            <a:r>
              <a:rPr lang="en" dirty="0"/>
              <a:t>This slide visualizes the customers selected by both ranking methods. On the left plot, the Y-axis represents Store Gap our measure of missed opportunity while the X-axis represents Document Flow, which we defined as our high-value opportunity metric.</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With Method 1, the selected customers shown in green cluster heavily along the top of the graph, in Quadrants 1 and 2. This indicates that Method 1 strongly prioritized high Store Gap, at the expense of balancing the Document Flow.</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In contrast, Method 2 produced a spread of customers across Quadrants 1 and 4, showing that this approach placed more emphasis on high Document Flow and less on Store Gap.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This comparison helped us understand the tradeoffs and informed our decision to refine our final method.</a:t>
            </a:r>
            <a:endParaRPr dirty="0"/>
          </a:p>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df6eee06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adf6eee06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endParaRPr dirty="0">
              <a:solidFill>
                <a:schemeClr val="dk1"/>
              </a:solidFill>
            </a:endParaRPr>
          </a:p>
          <a:p>
            <a:pPr marL="0" lvl="0" indent="0" algn="l" rtl="0">
              <a:lnSpc>
                <a:spcPct val="115000"/>
              </a:lnSpc>
              <a:spcBef>
                <a:spcPts val="1200"/>
              </a:spcBef>
              <a:spcAft>
                <a:spcPts val="1200"/>
              </a:spcAft>
              <a:buClr>
                <a:schemeClr val="dk1"/>
              </a:buClr>
              <a:buSzPts val="1100"/>
              <a:buFont typeface="Arial"/>
              <a:buNone/>
            </a:pPr>
            <a:r>
              <a:rPr lang="en" dirty="0">
                <a:solidFill>
                  <a:schemeClr val="dk1"/>
                </a:solidFill>
              </a:rPr>
              <a:t>We chose this approach because it focuses on Doc flow and Store Gap, which give the clearest insight into where there’s both growth opportunity and profit potential. By combining these two factors, it highlights customers who can deliver the biggest impact. The resulting ranking balances opportunity with profitability.</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adf90faadb_1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adf90faadb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a98b809318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a98b80931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adf90faadb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adf90faadb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p:nvPr/>
        </p:nvSpPr>
        <p:spPr>
          <a:xfrm>
            <a:off x="0" y="44125"/>
            <a:ext cx="4313625" cy="4399375"/>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3" name="Google Shape;23;p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4" name="Google Shape;24;p4"/>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25" name="Google Shape;25;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9" name="Google Shape;29;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1" name="Google Shape;3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5" name="Google Shape;3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3" name="Google Shape;4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4"/>
          <p:cNvSpPr txBox="1">
            <a:spLocks noGrp="1"/>
          </p:cNvSpPr>
          <p:nvPr>
            <p:ph type="title"/>
          </p:nvPr>
        </p:nvSpPr>
        <p:spPr>
          <a:xfrm>
            <a:off x="311700" y="368375"/>
            <a:ext cx="3999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Project Scope</a:t>
            </a:r>
            <a:endParaRPr/>
          </a:p>
        </p:txBody>
      </p:sp>
      <p:sp>
        <p:nvSpPr>
          <p:cNvPr id="72" name="Google Shape;72;p14"/>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300" dirty="0"/>
              <a:t>Generate a list of suppliers for sales outreach by leveraging internal customer transaction data and external web data.</a:t>
            </a:r>
            <a:endParaRPr sz="1300" dirty="0"/>
          </a:p>
          <a:p>
            <a:pPr marL="0" lvl="0" indent="0" algn="l" rtl="0">
              <a:spcBef>
                <a:spcPts val="1200"/>
              </a:spcBef>
              <a:spcAft>
                <a:spcPts val="1200"/>
              </a:spcAft>
              <a:buNone/>
            </a:pPr>
            <a:endParaRPr sz="1300" dirty="0"/>
          </a:p>
        </p:txBody>
      </p:sp>
      <p:sp>
        <p:nvSpPr>
          <p:cNvPr id="73" name="Google Shape;73;p14"/>
          <p:cNvSpPr txBox="1">
            <a:spLocks noGrp="1"/>
          </p:cNvSpPr>
          <p:nvPr>
            <p:ph type="body" idx="2"/>
          </p:nvPr>
        </p:nvSpPr>
        <p:spPr>
          <a:xfrm>
            <a:off x="4832400" y="1492675"/>
            <a:ext cx="3999900" cy="3076200"/>
          </a:xfrm>
          <a:prstGeom prst="rect">
            <a:avLst/>
          </a:prstGeom>
        </p:spPr>
        <p:txBody>
          <a:bodyPr spcFirstLastPara="1" wrap="square" lIns="91425" tIns="91425" rIns="91425" bIns="91425" anchor="t" anchorCtr="0">
            <a:normAutofit/>
          </a:bodyPr>
          <a:lstStyle/>
          <a:p>
            <a:pPr marL="457200" lvl="0" indent="-285750" algn="l" rtl="0">
              <a:spcBef>
                <a:spcPts val="0"/>
              </a:spcBef>
              <a:spcAft>
                <a:spcPts val="0"/>
              </a:spcAft>
              <a:buSzPts val="900"/>
              <a:buChar char="●"/>
            </a:pPr>
            <a:r>
              <a:rPr lang="en" sz="1100" dirty="0"/>
              <a:t>Data Sources</a:t>
            </a:r>
            <a:endParaRPr sz="1100" dirty="0"/>
          </a:p>
          <a:p>
            <a:pPr marL="914400" lvl="1" indent="-298450" algn="l" rtl="0">
              <a:spcBef>
                <a:spcPts val="0"/>
              </a:spcBef>
              <a:spcAft>
                <a:spcPts val="0"/>
              </a:spcAft>
              <a:buSzPts val="1100"/>
              <a:buChar char="○"/>
            </a:pPr>
            <a:r>
              <a:rPr lang="en" sz="1100" dirty="0"/>
              <a:t>Internal (Data Provided)</a:t>
            </a:r>
            <a:endParaRPr sz="1100" dirty="0"/>
          </a:p>
          <a:p>
            <a:pPr marL="914400" lvl="1" indent="-298450" algn="l" rtl="0">
              <a:spcBef>
                <a:spcPts val="0"/>
              </a:spcBef>
              <a:spcAft>
                <a:spcPts val="0"/>
              </a:spcAft>
              <a:buSzPts val="1100"/>
              <a:buChar char="○"/>
            </a:pPr>
            <a:r>
              <a:rPr lang="en" sz="1100" dirty="0"/>
              <a:t>External (Web Scraped Data)</a:t>
            </a:r>
            <a:endParaRPr sz="1100" dirty="0"/>
          </a:p>
          <a:p>
            <a:pPr marL="457200" lvl="0" indent="-285750" algn="l" rtl="0">
              <a:spcBef>
                <a:spcPts val="0"/>
              </a:spcBef>
              <a:spcAft>
                <a:spcPts val="0"/>
              </a:spcAft>
              <a:buSzPts val="900"/>
              <a:buChar char="●"/>
            </a:pPr>
            <a:r>
              <a:rPr lang="en" sz="1100" dirty="0"/>
              <a:t>Processes / Methodologies</a:t>
            </a:r>
            <a:endParaRPr sz="1100" dirty="0"/>
          </a:p>
          <a:p>
            <a:pPr marL="914400" lvl="1" indent="-285750" algn="l" rtl="0">
              <a:spcBef>
                <a:spcPts val="0"/>
              </a:spcBef>
              <a:spcAft>
                <a:spcPts val="0"/>
              </a:spcAft>
              <a:buSzPts val="900"/>
              <a:buChar char="○"/>
            </a:pPr>
            <a:r>
              <a:rPr lang="en" sz="1100" dirty="0"/>
              <a:t>Data processing pipeline</a:t>
            </a:r>
            <a:endParaRPr sz="1100" dirty="0"/>
          </a:p>
          <a:p>
            <a:pPr marL="914400" lvl="1" indent="-298450" algn="l" rtl="0">
              <a:spcBef>
                <a:spcPts val="0"/>
              </a:spcBef>
              <a:spcAft>
                <a:spcPts val="0"/>
              </a:spcAft>
              <a:buSzPts val="1100"/>
              <a:buChar char="○"/>
            </a:pPr>
            <a:r>
              <a:rPr lang="en" sz="1100" dirty="0"/>
              <a:t>API and Database Operations</a:t>
            </a:r>
            <a:endParaRPr sz="1100" dirty="0"/>
          </a:p>
          <a:p>
            <a:pPr marL="914400" lvl="1" indent="-298450" algn="l" rtl="0">
              <a:spcBef>
                <a:spcPts val="0"/>
              </a:spcBef>
              <a:spcAft>
                <a:spcPts val="0"/>
              </a:spcAft>
              <a:buSzPts val="1100"/>
              <a:buChar char="○"/>
            </a:pPr>
            <a:r>
              <a:rPr lang="en" sz="1100" dirty="0"/>
              <a:t>Filtering Criteria</a:t>
            </a:r>
            <a:endParaRPr sz="1100" dirty="0"/>
          </a:p>
          <a:p>
            <a:pPr marL="914400" lvl="1" indent="-298450" algn="l" rtl="0">
              <a:spcBef>
                <a:spcPts val="0"/>
              </a:spcBef>
              <a:spcAft>
                <a:spcPts val="0"/>
              </a:spcAft>
              <a:buSzPts val="1100"/>
              <a:buChar char="○"/>
            </a:pPr>
            <a:r>
              <a:rPr lang="en" sz="1100" dirty="0"/>
              <a:t>Exploratory Data Analysis</a:t>
            </a:r>
            <a:endParaRPr sz="1100" dirty="0"/>
          </a:p>
          <a:p>
            <a:pPr marL="457200" lvl="0" indent="-285750" algn="l" rtl="0">
              <a:spcBef>
                <a:spcPts val="0"/>
              </a:spcBef>
              <a:spcAft>
                <a:spcPts val="0"/>
              </a:spcAft>
              <a:buSzPts val="900"/>
              <a:buChar char="●"/>
            </a:pPr>
            <a:r>
              <a:rPr lang="en" sz="1100" dirty="0"/>
              <a:t>Deliverable</a:t>
            </a:r>
            <a:endParaRPr sz="1100" dirty="0"/>
          </a:p>
          <a:p>
            <a:pPr marL="914400" lvl="1" indent="-298450" algn="l" rtl="0">
              <a:spcBef>
                <a:spcPts val="0"/>
              </a:spcBef>
              <a:spcAft>
                <a:spcPts val="0"/>
              </a:spcAft>
              <a:buSzPts val="1100"/>
              <a:buChar char="○"/>
            </a:pPr>
            <a:r>
              <a:rPr lang="en" sz="1100" dirty="0"/>
              <a:t>Ranking of suppliers</a:t>
            </a:r>
            <a:endParaRPr sz="1100" dirty="0"/>
          </a:p>
          <a:p>
            <a:pPr marL="914400" lvl="1" indent="-298450" algn="l" rtl="0">
              <a:spcBef>
                <a:spcPts val="0"/>
              </a:spcBef>
              <a:spcAft>
                <a:spcPts val="0"/>
              </a:spcAft>
              <a:buSzPts val="1100"/>
              <a:buChar char="○"/>
            </a:pPr>
            <a:r>
              <a:rPr lang="en" sz="1100" dirty="0"/>
              <a:t>Reasoning for using method</a:t>
            </a:r>
            <a:endParaRPr sz="1100" dirty="0"/>
          </a:p>
          <a:p>
            <a:pPr marL="914400" lvl="0" indent="0" algn="l" rtl="0">
              <a:spcBef>
                <a:spcPts val="1200"/>
              </a:spcBef>
              <a:spcAft>
                <a:spcPts val="1200"/>
              </a:spcAft>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373650" y="26827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Steps Performed (Overview)</a:t>
            </a:r>
            <a:endParaRPr/>
          </a:p>
        </p:txBody>
      </p:sp>
      <p:sp>
        <p:nvSpPr>
          <p:cNvPr id="79" name="Google Shape;79;p15"/>
          <p:cNvSpPr txBox="1">
            <a:spLocks noGrp="1"/>
          </p:cNvSpPr>
          <p:nvPr>
            <p:ph type="body" idx="1"/>
          </p:nvPr>
        </p:nvSpPr>
        <p:spPr>
          <a:xfrm>
            <a:off x="0" y="1349125"/>
            <a:ext cx="4185900" cy="3794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Obtained the primary data from github.</a:t>
            </a:r>
            <a:endParaRPr/>
          </a:p>
          <a:p>
            <a:pPr marL="0" lvl="0" indent="0" algn="l" rtl="0">
              <a:spcBef>
                <a:spcPts val="1200"/>
              </a:spcBef>
              <a:spcAft>
                <a:spcPts val="0"/>
              </a:spcAft>
              <a:buNone/>
            </a:pPr>
            <a:r>
              <a:rPr lang="en"/>
              <a:t>Using the data, created a Python script to scrape APIs, taking turns attempting to pull and, overall, getting a feeling for how to scrape data and share it over github.</a:t>
            </a:r>
            <a:endParaRPr/>
          </a:p>
          <a:p>
            <a:pPr marL="0" lvl="0" indent="0" algn="l" rtl="0">
              <a:spcBef>
                <a:spcPts val="1200"/>
              </a:spcBef>
              <a:spcAft>
                <a:spcPts val="0"/>
              </a:spcAft>
              <a:buNone/>
            </a:pPr>
            <a:r>
              <a:rPr lang="en"/>
              <a:t>We gathered, and built a database using all the data gathered from everyone, ensuring consistency.</a:t>
            </a:r>
            <a:endParaRPr/>
          </a:p>
          <a:p>
            <a:pPr marL="0" lvl="0" indent="0" algn="l" rtl="0">
              <a:spcBef>
                <a:spcPts val="1200"/>
              </a:spcBef>
              <a:spcAft>
                <a:spcPts val="0"/>
              </a:spcAft>
              <a:buNone/>
            </a:pPr>
            <a:r>
              <a:rPr lang="en"/>
              <a:t>Together, created a database and explored it using different methods, primarily SQL/Python</a:t>
            </a:r>
            <a:endParaRPr/>
          </a:p>
          <a:p>
            <a:pPr marL="0" lvl="0" indent="0" algn="l" rtl="0">
              <a:spcBef>
                <a:spcPts val="1200"/>
              </a:spcBef>
              <a:spcAft>
                <a:spcPts val="0"/>
              </a:spcAft>
              <a:buNone/>
            </a:pPr>
            <a:r>
              <a:rPr lang="en"/>
              <a:t>Trimmed down invalid or missing data.</a:t>
            </a:r>
            <a:endParaRPr/>
          </a:p>
          <a:p>
            <a:pPr marL="0" lvl="0" indent="0" algn="l" rtl="0">
              <a:spcBef>
                <a:spcPts val="1200"/>
              </a:spcBef>
              <a:spcAft>
                <a:spcPts val="1200"/>
              </a:spcAft>
              <a:buNone/>
            </a:pPr>
            <a:endParaRPr/>
          </a:p>
        </p:txBody>
      </p:sp>
      <p:sp>
        <p:nvSpPr>
          <p:cNvPr id="80" name="Google Shape;80;p15"/>
          <p:cNvSpPr txBox="1">
            <a:spLocks noGrp="1"/>
          </p:cNvSpPr>
          <p:nvPr>
            <p:ph type="body" idx="2"/>
          </p:nvPr>
        </p:nvSpPr>
        <p:spPr>
          <a:xfrm>
            <a:off x="4572000" y="1310800"/>
            <a:ext cx="3999900" cy="38328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a:t>We then built different models using different methods based on observed data, questions asked about the data, and discussions among one another.</a:t>
            </a:r>
            <a:endParaRPr/>
          </a:p>
          <a:p>
            <a:pPr marL="0" lvl="0" indent="0" algn="l" rtl="0">
              <a:spcBef>
                <a:spcPts val="1200"/>
              </a:spcBef>
              <a:spcAft>
                <a:spcPts val="0"/>
              </a:spcAft>
              <a:buNone/>
            </a:pPr>
            <a:r>
              <a:rPr lang="en"/>
              <a:t>It’s important to remember: There was no necessarily “wrong” method to do this. </a:t>
            </a:r>
            <a:endParaRPr/>
          </a:p>
          <a:p>
            <a:pPr marL="0" lvl="0" indent="0" algn="l" rtl="0">
              <a:spcBef>
                <a:spcPts val="1200"/>
              </a:spcBef>
              <a:spcAft>
                <a:spcPts val="0"/>
              </a:spcAft>
              <a:buNone/>
            </a:pPr>
            <a:r>
              <a:rPr lang="en"/>
              <a:t>Each method was based upon logic, what information we’re given, and real world situations.</a:t>
            </a:r>
            <a:endParaRPr/>
          </a:p>
          <a:p>
            <a:pPr marL="0" lvl="0" indent="0" algn="l" rtl="0">
              <a:spcBef>
                <a:spcPts val="1200"/>
              </a:spcBef>
              <a:spcAft>
                <a:spcPts val="0"/>
              </a:spcAft>
              <a:buNone/>
            </a:pPr>
            <a:r>
              <a:rPr lang="en"/>
              <a:t>After discussion, we settled on one model. Each one has their own weights and we can spot similarities between them.</a:t>
            </a:r>
            <a:endParaRPr/>
          </a:p>
          <a:p>
            <a:pPr marL="0" lvl="0" indent="0" algn="l" rtl="0">
              <a:spcBef>
                <a:spcPts val="1200"/>
              </a:spcBef>
              <a:spcAft>
                <a:spcPts val="0"/>
              </a:spcAft>
              <a:buNone/>
            </a:pPr>
            <a:endParaRPr/>
          </a:p>
          <a:p>
            <a:pPr marL="0" lvl="0" indent="0" algn="l" rtl="0">
              <a:spcBef>
                <a:spcPts val="1200"/>
              </a:spcBef>
              <a:spcAft>
                <a:spcPts val="1200"/>
              </a:spcAft>
              <a:buNone/>
            </a:pPr>
            <a:r>
              <a:rPr lang="en"/>
              <a:t>Our detailed results are in the next few slides.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 Processing Pipeline</a:t>
            </a:r>
            <a:endParaRPr/>
          </a:p>
        </p:txBody>
      </p:sp>
      <p:pic>
        <p:nvPicPr>
          <p:cNvPr id="86" name="Google Shape;86;p16"/>
          <p:cNvPicPr preferRelativeResize="0"/>
          <p:nvPr/>
        </p:nvPicPr>
        <p:blipFill>
          <a:blip r:embed="rId3">
            <a:alphaModFix/>
          </a:blip>
          <a:stretch>
            <a:fillRect/>
          </a:stretch>
        </p:blipFill>
        <p:spPr>
          <a:xfrm>
            <a:off x="599287" y="2045425"/>
            <a:ext cx="7484074" cy="3100625"/>
          </a:xfrm>
          <a:prstGeom prst="rect">
            <a:avLst/>
          </a:prstGeom>
          <a:noFill/>
          <a:ln>
            <a:noFill/>
          </a:ln>
        </p:spPr>
      </p:pic>
      <p:sp>
        <p:nvSpPr>
          <p:cNvPr id="87" name="Google Shape;87;p16"/>
          <p:cNvSpPr txBox="1"/>
          <p:nvPr/>
        </p:nvSpPr>
        <p:spPr>
          <a:xfrm>
            <a:off x="490675" y="1406975"/>
            <a:ext cx="7701300" cy="3561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Load &amp; validate the data, then clean the raw transactions and customer data before sampling</a:t>
            </a:r>
            <a:endParaRPr sz="1300">
              <a:solidFill>
                <a:schemeClr val="dk2"/>
              </a:solidFill>
              <a:latin typeface="Roboto"/>
              <a:ea typeface="Roboto"/>
              <a:cs typeface="Roboto"/>
              <a:sym typeface="Roboto"/>
            </a:endParaRPr>
          </a:p>
          <a:p>
            <a:pPr marL="457200" lvl="0" indent="-311150" algn="l" rtl="0">
              <a:lnSpc>
                <a:spcPct val="115000"/>
              </a:lnSpc>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Valid Code Lengths: 11-14 numeric characters</a:t>
            </a:r>
            <a:endParaRPr sz="1300">
              <a:solidFill>
                <a:schemeClr val="dk2"/>
              </a:solidFill>
              <a:latin typeface="Roboto"/>
              <a:ea typeface="Roboto"/>
              <a:cs typeface="Roboto"/>
              <a:sym typeface="Roboto"/>
            </a:endParaRPr>
          </a:p>
          <a:p>
            <a:pPr marL="0" lvl="0" indent="0" algn="l" rtl="0">
              <a:lnSpc>
                <a:spcPct val="115000"/>
              </a:lnSpc>
              <a:spcBef>
                <a:spcPts val="1200"/>
              </a:spcBef>
              <a:spcAft>
                <a:spcPts val="1200"/>
              </a:spcAft>
              <a:buNone/>
            </a:pPr>
            <a:endParaRPr sz="1300">
              <a:solidFill>
                <a:schemeClr val="dk2"/>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Final 450K Sample</a:t>
            </a:r>
            <a:endParaRPr/>
          </a:p>
        </p:txBody>
      </p:sp>
      <p:pic>
        <p:nvPicPr>
          <p:cNvPr id="93" name="Google Shape;93;p17"/>
          <p:cNvPicPr preferRelativeResize="0"/>
          <p:nvPr/>
        </p:nvPicPr>
        <p:blipFill>
          <a:blip r:embed="rId3">
            <a:alphaModFix/>
          </a:blip>
          <a:stretch>
            <a:fillRect/>
          </a:stretch>
        </p:blipFill>
        <p:spPr>
          <a:xfrm>
            <a:off x="496950" y="1958525"/>
            <a:ext cx="8150100" cy="3121476"/>
          </a:xfrm>
          <a:prstGeom prst="rect">
            <a:avLst/>
          </a:prstGeom>
          <a:noFill/>
          <a:ln>
            <a:noFill/>
          </a:ln>
        </p:spPr>
      </p:pic>
      <p:sp>
        <p:nvSpPr>
          <p:cNvPr id="94" name="Google Shape;94;p17"/>
          <p:cNvSpPr txBox="1"/>
          <p:nvPr/>
        </p:nvSpPr>
        <p:spPr>
          <a:xfrm>
            <a:off x="260400" y="1327350"/>
            <a:ext cx="8623200" cy="571500"/>
          </a:xfrm>
          <a:prstGeom prst="rect">
            <a:avLst/>
          </a:prstGeom>
          <a:noFill/>
          <a:ln>
            <a:noFill/>
          </a:ln>
        </p:spPr>
        <p:txBody>
          <a:bodyPr spcFirstLastPara="1" wrap="square" lIns="91425" tIns="91425" rIns="91425" bIns="91425" anchor="t" anchorCtr="0">
            <a:noAutofit/>
          </a:bodyPr>
          <a:lstStyle/>
          <a:p>
            <a:pPr marL="457200" lvl="0" indent="-311150" algn="l" rtl="0">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Total Organizations to sample from: 6,433</a:t>
            </a:r>
            <a:endParaRPr sz="1300">
              <a:solidFill>
                <a:schemeClr val="dk2"/>
              </a:solidFill>
              <a:latin typeface="Roboto"/>
              <a:ea typeface="Roboto"/>
              <a:cs typeface="Roboto"/>
              <a:sym typeface="Roboto"/>
            </a:endParaRPr>
          </a:p>
          <a:p>
            <a:pPr marL="457200" lvl="0" indent="-311150" algn="l" rtl="0">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Total Transactions across those organizations: 941,740</a:t>
            </a:r>
            <a:endParaRPr sz="1300">
              <a:solidFill>
                <a:schemeClr val="dk2"/>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1"/>
          <p:cNvSpPr txBox="1">
            <a:spLocks noGrp="1"/>
          </p:cNvSpPr>
          <p:nvPr>
            <p:ph type="title"/>
          </p:nvPr>
        </p:nvSpPr>
        <p:spPr>
          <a:xfrm>
            <a:off x="311700" y="2898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Modeling and Exploration</a:t>
            </a:r>
            <a:endParaRPr/>
          </a:p>
        </p:txBody>
      </p:sp>
      <p:sp>
        <p:nvSpPr>
          <p:cNvPr id="123" name="Google Shape;123;p21"/>
          <p:cNvSpPr txBox="1">
            <a:spLocks noGrp="1"/>
          </p:cNvSpPr>
          <p:nvPr>
            <p:ph type="body" idx="1"/>
          </p:nvPr>
        </p:nvSpPr>
        <p:spPr>
          <a:xfrm>
            <a:off x="311700" y="1443625"/>
            <a:ext cx="4601100" cy="3416400"/>
          </a:xfrm>
          <a:prstGeom prst="rect">
            <a:avLst/>
          </a:prstGeom>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r>
              <a:rPr lang="en"/>
              <a:t>Overview:</a:t>
            </a:r>
            <a:endParaRPr/>
          </a:p>
          <a:p>
            <a:pPr marL="457200" marR="0" lvl="0" indent="-330200" algn="l" rtl="0">
              <a:lnSpc>
                <a:spcPct val="115000"/>
              </a:lnSpc>
              <a:spcBef>
                <a:spcPts val="1200"/>
              </a:spcBef>
              <a:spcAft>
                <a:spcPts val="0"/>
              </a:spcAft>
              <a:buSzPts val="1600"/>
              <a:buChar char="●"/>
            </a:pPr>
            <a:r>
              <a:rPr lang="en" sz="1600"/>
              <a:t>Feature Engineering and Log   Transformations</a:t>
            </a:r>
            <a:endParaRPr sz="1600"/>
          </a:p>
          <a:p>
            <a:pPr marL="457200" marR="0" lvl="0" indent="0" algn="l" rtl="0">
              <a:lnSpc>
                <a:spcPct val="115000"/>
              </a:lnSpc>
              <a:spcBef>
                <a:spcPts val="1200"/>
              </a:spcBef>
              <a:spcAft>
                <a:spcPts val="0"/>
              </a:spcAft>
              <a:buNone/>
            </a:pPr>
            <a:endParaRPr sz="1600"/>
          </a:p>
          <a:p>
            <a:pPr marL="457200" marR="0" lvl="0" indent="-330200" algn="l" rtl="0">
              <a:lnSpc>
                <a:spcPct val="115000"/>
              </a:lnSpc>
              <a:spcBef>
                <a:spcPts val="1200"/>
              </a:spcBef>
              <a:spcAft>
                <a:spcPts val="0"/>
              </a:spcAft>
              <a:buSzPts val="1600"/>
              <a:buChar char="●"/>
            </a:pPr>
            <a:r>
              <a:rPr lang="en" sz="1600"/>
              <a:t>Exploratory Data Analysis</a:t>
            </a:r>
            <a:endParaRPr sz="1600"/>
          </a:p>
          <a:p>
            <a:pPr marL="457200" marR="0" lvl="0" indent="0" algn="l" rtl="0">
              <a:lnSpc>
                <a:spcPct val="115000"/>
              </a:lnSpc>
              <a:spcBef>
                <a:spcPts val="1200"/>
              </a:spcBef>
              <a:spcAft>
                <a:spcPts val="0"/>
              </a:spcAft>
              <a:buNone/>
            </a:pPr>
            <a:endParaRPr sz="1600"/>
          </a:p>
          <a:p>
            <a:pPr marL="457200" marR="0" lvl="0" indent="-330200" algn="l" rtl="0">
              <a:lnSpc>
                <a:spcPct val="115000"/>
              </a:lnSpc>
              <a:spcBef>
                <a:spcPts val="1200"/>
              </a:spcBef>
              <a:spcAft>
                <a:spcPts val="0"/>
              </a:spcAft>
              <a:buSzPts val="1600"/>
              <a:buChar char="●"/>
            </a:pPr>
            <a:r>
              <a:rPr lang="en" sz="1600"/>
              <a:t>Ranking Approach</a:t>
            </a:r>
            <a:endParaRPr sz="1600"/>
          </a:p>
        </p:txBody>
      </p:sp>
      <p:pic>
        <p:nvPicPr>
          <p:cNvPr id="124" name="Google Shape;124;p21"/>
          <p:cNvPicPr preferRelativeResize="0"/>
          <p:nvPr/>
        </p:nvPicPr>
        <p:blipFill>
          <a:blip r:embed="rId3">
            <a:alphaModFix/>
          </a:blip>
          <a:stretch>
            <a:fillRect/>
          </a:stretch>
        </p:blipFill>
        <p:spPr>
          <a:xfrm>
            <a:off x="4698484" y="2040709"/>
            <a:ext cx="3436825" cy="1315825"/>
          </a:xfrm>
          <a:prstGeom prst="rect">
            <a:avLst/>
          </a:prstGeom>
          <a:noFill/>
          <a:ln>
            <a:noFill/>
          </a:ln>
        </p:spPr>
      </p:pic>
      <p:sp>
        <p:nvSpPr>
          <p:cNvPr id="125" name="Google Shape;125;p21"/>
          <p:cNvSpPr txBox="1"/>
          <p:nvPr/>
        </p:nvSpPr>
        <p:spPr>
          <a:xfrm>
            <a:off x="3777950" y="3493675"/>
            <a:ext cx="5277900" cy="136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2"/>
                </a:solidFill>
                <a:latin typeface="Roboto"/>
                <a:ea typeface="Roboto"/>
                <a:cs typeface="Roboto"/>
                <a:sym typeface="Roboto"/>
              </a:rPr>
              <a:t>Store_gap = customer_unique_store_count - customer_total_retailers</a:t>
            </a:r>
            <a:endParaRPr sz="1300">
              <a:solidFill>
                <a:schemeClr val="dk2"/>
              </a:solidFill>
              <a:latin typeface="Roboto"/>
              <a:ea typeface="Roboto"/>
              <a:cs typeface="Roboto"/>
              <a:sym typeface="Roboto"/>
            </a:endParaRPr>
          </a:p>
          <a:p>
            <a:pPr marL="0" lvl="0" indent="0" algn="l" rtl="0">
              <a:spcBef>
                <a:spcPts val="0"/>
              </a:spcBef>
              <a:spcAft>
                <a:spcPts val="0"/>
              </a:spcAft>
              <a:buNone/>
            </a:pPr>
            <a:endParaRPr sz="1300">
              <a:solidFill>
                <a:schemeClr val="dk2"/>
              </a:solidFill>
              <a:latin typeface="Roboto"/>
              <a:ea typeface="Roboto"/>
              <a:cs typeface="Roboto"/>
              <a:sym typeface="Roboto"/>
            </a:endParaRPr>
          </a:p>
          <a:p>
            <a:pPr marL="0" lvl="0" indent="0" algn="l" rtl="0">
              <a:spcBef>
                <a:spcPts val="0"/>
              </a:spcBef>
              <a:spcAft>
                <a:spcPts val="0"/>
              </a:spcAft>
              <a:buNone/>
            </a:pPr>
            <a:r>
              <a:rPr lang="en" sz="1300">
                <a:solidFill>
                  <a:schemeClr val="dk2"/>
                </a:solidFill>
                <a:latin typeface="Roboto"/>
                <a:ea typeface="Roboto"/>
                <a:cs typeface="Roboto"/>
                <a:sym typeface="Roboto"/>
              </a:rPr>
              <a:t>Customer_unique_store_count </a:t>
            </a:r>
            <a:r>
              <a:rPr lang="en" sz="1300" i="1">
                <a:solidFill>
                  <a:schemeClr val="dk2"/>
                </a:solidFill>
                <a:latin typeface="Roboto"/>
                <a:ea typeface="Roboto"/>
                <a:cs typeface="Roboto"/>
                <a:sym typeface="Roboto"/>
              </a:rPr>
              <a:t>(Scraped count of connections)</a:t>
            </a:r>
            <a:endParaRPr sz="1300" i="1">
              <a:solidFill>
                <a:schemeClr val="dk2"/>
              </a:solidFill>
              <a:latin typeface="Roboto"/>
              <a:ea typeface="Roboto"/>
              <a:cs typeface="Roboto"/>
              <a:sym typeface="Roboto"/>
            </a:endParaRPr>
          </a:p>
          <a:p>
            <a:pPr marL="0" lvl="0" indent="0" algn="l" rtl="0">
              <a:spcBef>
                <a:spcPts val="0"/>
              </a:spcBef>
              <a:spcAft>
                <a:spcPts val="0"/>
              </a:spcAft>
              <a:buNone/>
            </a:pPr>
            <a:r>
              <a:rPr lang="en" sz="1300">
                <a:solidFill>
                  <a:schemeClr val="dk2"/>
                </a:solidFill>
                <a:latin typeface="Roboto"/>
                <a:ea typeface="Roboto"/>
                <a:cs typeface="Roboto"/>
                <a:sym typeface="Roboto"/>
              </a:rPr>
              <a:t>Customer_total_retailers </a:t>
            </a:r>
            <a:r>
              <a:rPr lang="en" sz="1300" i="1">
                <a:solidFill>
                  <a:schemeClr val="dk2"/>
                </a:solidFill>
                <a:latin typeface="Roboto"/>
                <a:ea typeface="Roboto"/>
                <a:cs typeface="Roboto"/>
                <a:sym typeface="Roboto"/>
              </a:rPr>
              <a:t>(SPS provided count of connections)</a:t>
            </a:r>
            <a:endParaRPr sz="1300" i="1">
              <a:solidFill>
                <a:schemeClr val="dk2"/>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3"/>
          <p:cNvSpPr txBox="1">
            <a:spLocks noGrp="1"/>
          </p:cNvSpPr>
          <p:nvPr>
            <p:ph type="title"/>
          </p:nvPr>
        </p:nvSpPr>
        <p:spPr>
          <a:xfrm>
            <a:off x="311700" y="2972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Exploratory Data Analysis</a:t>
            </a:r>
            <a:endParaRPr/>
          </a:p>
        </p:txBody>
      </p:sp>
      <p:sp>
        <p:nvSpPr>
          <p:cNvPr id="138" name="Google Shape;138;p23"/>
          <p:cNvSpPr txBox="1">
            <a:spLocks noGrp="1"/>
          </p:cNvSpPr>
          <p:nvPr>
            <p:ph type="body" idx="1"/>
          </p:nvPr>
        </p:nvSpPr>
        <p:spPr>
          <a:xfrm>
            <a:off x="311700" y="1418100"/>
            <a:ext cx="3176400" cy="3150900"/>
          </a:xfrm>
          <a:prstGeom prst="rect">
            <a:avLst/>
          </a:prstGeom>
        </p:spPr>
        <p:txBody>
          <a:bodyPr spcFirstLastPara="1" wrap="square" lIns="91425" tIns="91425" rIns="91425" bIns="91425" anchor="t" anchorCtr="0">
            <a:normAutofit fontScale="25000"/>
          </a:bodyPr>
          <a:lstStyle/>
          <a:p>
            <a:pPr marL="457200" lvl="0" indent="-304800" algn="l" rtl="0">
              <a:spcBef>
                <a:spcPts val="0"/>
              </a:spcBef>
              <a:spcAft>
                <a:spcPts val="0"/>
              </a:spcAft>
              <a:buSzPct val="100000"/>
              <a:buChar char="●"/>
            </a:pPr>
            <a:r>
              <a:rPr lang="en" sz="4800"/>
              <a:t>Org store gap distribution is relatively consistent across industry verticals</a:t>
            </a:r>
            <a:endParaRPr sz="4800"/>
          </a:p>
          <a:p>
            <a:pPr marL="457200" lvl="0" indent="0" algn="l" rtl="0">
              <a:spcBef>
                <a:spcPts val="1200"/>
              </a:spcBef>
              <a:spcAft>
                <a:spcPts val="0"/>
              </a:spcAft>
              <a:buNone/>
            </a:pPr>
            <a:endParaRPr sz="4800"/>
          </a:p>
          <a:p>
            <a:pPr marL="457200" lvl="0" indent="-304800" algn="l" rtl="0">
              <a:spcBef>
                <a:spcPts val="1200"/>
              </a:spcBef>
              <a:spcAft>
                <a:spcPts val="0"/>
              </a:spcAft>
              <a:buSzPct val="100000"/>
              <a:buChar char="●"/>
            </a:pPr>
            <a:r>
              <a:rPr lang="en" sz="4800"/>
              <a:t>Dominant Vertical</a:t>
            </a:r>
            <a:endParaRPr sz="4800"/>
          </a:p>
          <a:p>
            <a:pPr marL="914400" lvl="1" indent="-304800" algn="l" rtl="0">
              <a:spcBef>
                <a:spcPts val="0"/>
              </a:spcBef>
              <a:spcAft>
                <a:spcPts val="0"/>
              </a:spcAft>
              <a:buSzPct val="100000"/>
              <a:buChar char="○"/>
            </a:pPr>
            <a:r>
              <a:rPr lang="en" sz="4800"/>
              <a:t>Food and Drug</a:t>
            </a:r>
            <a:endParaRPr sz="4800"/>
          </a:p>
          <a:p>
            <a:pPr marL="457200" lvl="0" indent="0" algn="l" rtl="0">
              <a:spcBef>
                <a:spcPts val="1200"/>
              </a:spcBef>
              <a:spcAft>
                <a:spcPts val="0"/>
              </a:spcAft>
              <a:buNone/>
            </a:pPr>
            <a:endParaRPr sz="4800"/>
          </a:p>
          <a:p>
            <a:pPr marL="457200" lvl="0" indent="-304800" algn="l" rtl="0">
              <a:spcBef>
                <a:spcPts val="1200"/>
              </a:spcBef>
              <a:spcAft>
                <a:spcPts val="0"/>
              </a:spcAft>
              <a:buSzPct val="100000"/>
              <a:buChar char="●"/>
            </a:pPr>
            <a:r>
              <a:rPr lang="en" sz="4800"/>
              <a:t>Potential weak points</a:t>
            </a:r>
            <a:endParaRPr sz="4800"/>
          </a:p>
          <a:p>
            <a:pPr marL="914400" lvl="1" indent="-304800" algn="l" rtl="0">
              <a:spcBef>
                <a:spcPts val="0"/>
              </a:spcBef>
              <a:spcAft>
                <a:spcPts val="0"/>
              </a:spcAft>
              <a:buSzPct val="100000"/>
              <a:buChar char="○"/>
            </a:pPr>
            <a:r>
              <a:rPr lang="en" sz="4800"/>
              <a:t>Hardlines-Home</a:t>
            </a:r>
            <a:endParaRPr sz="4800"/>
          </a:p>
          <a:p>
            <a:pPr marL="914400" lvl="1" indent="-304800" algn="l" rtl="0">
              <a:spcBef>
                <a:spcPts val="0"/>
              </a:spcBef>
              <a:spcAft>
                <a:spcPts val="0"/>
              </a:spcAft>
              <a:buSzPct val="100000"/>
              <a:buChar char="○"/>
            </a:pPr>
            <a:r>
              <a:rPr lang="en" sz="4800"/>
              <a:t>Industrial</a:t>
            </a:r>
            <a:endParaRPr sz="4800"/>
          </a:p>
          <a:p>
            <a:pPr marL="0" lvl="0" indent="0" algn="l" rtl="0">
              <a:spcBef>
                <a:spcPts val="1200"/>
              </a:spcBef>
              <a:spcAft>
                <a:spcPts val="0"/>
              </a:spcAft>
              <a:buNone/>
            </a:pPr>
            <a:endParaRPr/>
          </a:p>
          <a:p>
            <a:pPr marL="0" lvl="0" indent="0" algn="l" rtl="0">
              <a:spcBef>
                <a:spcPts val="1200"/>
              </a:spcBef>
              <a:spcAft>
                <a:spcPts val="1200"/>
              </a:spcAft>
              <a:buNone/>
            </a:pPr>
            <a:endParaRPr/>
          </a:p>
        </p:txBody>
      </p:sp>
      <p:pic>
        <p:nvPicPr>
          <p:cNvPr id="139" name="Google Shape;139;p23" title="ind_vert.png"/>
          <p:cNvPicPr preferRelativeResize="0"/>
          <p:nvPr/>
        </p:nvPicPr>
        <p:blipFill>
          <a:blip r:embed="rId3">
            <a:alphaModFix/>
          </a:blip>
          <a:stretch>
            <a:fillRect/>
          </a:stretch>
        </p:blipFill>
        <p:spPr>
          <a:xfrm>
            <a:off x="3884620" y="1700158"/>
            <a:ext cx="4947691" cy="2709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6"/>
          <p:cNvSpPr txBox="1">
            <a:spLocks noGrp="1"/>
          </p:cNvSpPr>
          <p:nvPr>
            <p:ph type="title"/>
          </p:nvPr>
        </p:nvSpPr>
        <p:spPr>
          <a:xfrm>
            <a:off x="311700" y="2307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Explored Ranking Methods</a:t>
            </a:r>
            <a:endParaRPr/>
          </a:p>
        </p:txBody>
      </p:sp>
      <p:sp>
        <p:nvSpPr>
          <p:cNvPr id="159" name="Google Shape;159;p26"/>
          <p:cNvSpPr txBox="1">
            <a:spLocks noGrp="1"/>
          </p:cNvSpPr>
          <p:nvPr>
            <p:ph type="body" idx="1"/>
          </p:nvPr>
        </p:nvSpPr>
        <p:spPr>
          <a:xfrm>
            <a:off x="311700" y="939025"/>
            <a:ext cx="4100100" cy="4086300"/>
          </a:xfrm>
          <a:prstGeom prst="rect">
            <a:avLst/>
          </a:prstGeom>
        </p:spPr>
        <p:txBody>
          <a:bodyPr spcFirstLastPara="1" wrap="square" lIns="91425" tIns="91425" rIns="91425" bIns="91425" anchor="t" anchorCtr="0">
            <a:normAutofit fontScale="55000" lnSpcReduction="20000"/>
          </a:bodyPr>
          <a:lstStyle/>
          <a:p>
            <a:pPr marL="0" lvl="0" indent="0" algn="l" rtl="0">
              <a:spcBef>
                <a:spcPts val="0"/>
              </a:spcBef>
              <a:spcAft>
                <a:spcPts val="0"/>
              </a:spcAft>
              <a:buNone/>
            </a:pPr>
            <a:r>
              <a:rPr lang="en" sz="2300" b="1" dirty="0"/>
              <a:t>Method 1:</a:t>
            </a:r>
            <a:endParaRPr sz="2300" b="1" dirty="0"/>
          </a:p>
          <a:p>
            <a:pPr marL="0" lvl="0" indent="0" algn="l" rtl="0">
              <a:spcBef>
                <a:spcPts val="1200"/>
              </a:spcBef>
              <a:spcAft>
                <a:spcPts val="0"/>
              </a:spcAft>
              <a:buNone/>
            </a:pPr>
            <a:br>
              <a:rPr lang="en" sz="1500" b="1" dirty="0"/>
            </a:br>
            <a:r>
              <a:rPr lang="en" sz="1979" b="1" dirty="0">
                <a:solidFill>
                  <a:schemeClr val="dk1"/>
                </a:solidFill>
              </a:rPr>
              <a:t>Calculate derived performance metrics</a:t>
            </a:r>
            <a:endParaRPr sz="1979" b="1" dirty="0">
              <a:solidFill>
                <a:schemeClr val="dk1"/>
              </a:solidFill>
            </a:endParaRPr>
          </a:p>
          <a:p>
            <a:pPr marL="457200" lvl="0" indent="-292925" algn="l" rtl="0">
              <a:spcBef>
                <a:spcPts val="1200"/>
              </a:spcBef>
              <a:spcAft>
                <a:spcPts val="0"/>
              </a:spcAft>
              <a:buClr>
                <a:schemeClr val="dk1"/>
              </a:buClr>
              <a:buSzPct val="100000"/>
              <a:buChar char="●"/>
            </a:pPr>
            <a:r>
              <a:rPr lang="en" sz="1841" dirty="0">
                <a:solidFill>
                  <a:schemeClr val="dk1"/>
                </a:solidFill>
              </a:rPr>
              <a:t>Store Gap = unique stores − retailer connections</a:t>
            </a:r>
            <a:endParaRPr sz="1841" dirty="0">
              <a:solidFill>
                <a:schemeClr val="dk1"/>
              </a:solidFill>
            </a:endParaRPr>
          </a:p>
          <a:p>
            <a:pPr marL="457200" lvl="0" indent="-292925" algn="l" rtl="0">
              <a:spcBef>
                <a:spcPts val="0"/>
              </a:spcBef>
              <a:spcAft>
                <a:spcPts val="0"/>
              </a:spcAft>
              <a:buClr>
                <a:schemeClr val="dk1"/>
              </a:buClr>
              <a:buSzPct val="100000"/>
              <a:buChar char="●"/>
            </a:pPr>
            <a:r>
              <a:rPr lang="en" sz="1841" dirty="0">
                <a:solidFill>
                  <a:schemeClr val="dk1"/>
                </a:solidFill>
              </a:rPr>
              <a:t>Velocity per Store = total transactions / retailer connections</a:t>
            </a:r>
            <a:endParaRPr sz="1841" dirty="0">
              <a:solidFill>
                <a:schemeClr val="dk1"/>
              </a:solidFill>
            </a:endParaRPr>
          </a:p>
          <a:p>
            <a:pPr marL="457200" lvl="0" indent="-292925" algn="l" rtl="0">
              <a:spcBef>
                <a:spcPts val="0"/>
              </a:spcBef>
              <a:spcAft>
                <a:spcPts val="0"/>
              </a:spcAft>
              <a:buClr>
                <a:schemeClr val="dk1"/>
              </a:buClr>
              <a:buSzPct val="100000"/>
              <a:buChar char="●"/>
            </a:pPr>
            <a:r>
              <a:rPr lang="en" sz="1841" dirty="0">
                <a:solidFill>
                  <a:schemeClr val="dk1"/>
                </a:solidFill>
              </a:rPr>
              <a:t>Doc Flow per Store = avg doc flow / retailer connections</a:t>
            </a:r>
            <a:endParaRPr sz="1841" dirty="0">
              <a:solidFill>
                <a:schemeClr val="dk1"/>
              </a:solidFill>
            </a:endParaRPr>
          </a:p>
          <a:p>
            <a:pPr marL="0" lvl="0" indent="0" algn="l" rtl="0">
              <a:spcBef>
                <a:spcPts val="1200"/>
              </a:spcBef>
              <a:spcAft>
                <a:spcPts val="0"/>
              </a:spcAft>
              <a:buNone/>
            </a:pPr>
            <a:r>
              <a:rPr lang="en" sz="1979" b="1" dirty="0">
                <a:solidFill>
                  <a:schemeClr val="dk1"/>
                </a:solidFill>
              </a:rPr>
              <a:t>Normalized each metric</a:t>
            </a:r>
            <a:endParaRPr sz="1979" b="1" dirty="0">
              <a:solidFill>
                <a:schemeClr val="dk1"/>
              </a:solidFill>
            </a:endParaRPr>
          </a:p>
          <a:p>
            <a:pPr marL="0" lvl="0" indent="0" algn="l" rtl="0">
              <a:spcBef>
                <a:spcPts val="1200"/>
              </a:spcBef>
              <a:spcAft>
                <a:spcPts val="0"/>
              </a:spcAft>
              <a:buClr>
                <a:schemeClr val="dk1"/>
              </a:buClr>
              <a:buSzPct val="55555"/>
              <a:buFont typeface="Arial"/>
              <a:buNone/>
            </a:pPr>
            <a:r>
              <a:rPr lang="en" sz="1979" b="1" dirty="0">
                <a:solidFill>
                  <a:schemeClr val="dk1"/>
                </a:solidFill>
              </a:rPr>
              <a:t>Apply weighted scoring formula</a:t>
            </a:r>
            <a:endParaRPr sz="1979" b="1" dirty="0">
              <a:solidFill>
                <a:schemeClr val="dk1"/>
              </a:solidFill>
            </a:endParaRPr>
          </a:p>
          <a:p>
            <a:pPr marL="457200" lvl="0" indent="-293687" algn="l" rtl="0">
              <a:spcBef>
                <a:spcPts val="1200"/>
              </a:spcBef>
              <a:spcAft>
                <a:spcPts val="0"/>
              </a:spcAft>
              <a:buClr>
                <a:schemeClr val="dk1"/>
              </a:buClr>
              <a:buSzPct val="100000"/>
              <a:buChar char="●"/>
            </a:pPr>
            <a:r>
              <a:rPr lang="en" sz="1863" dirty="0">
                <a:solidFill>
                  <a:schemeClr val="dk1"/>
                </a:solidFill>
              </a:rPr>
              <a:t>Store Gap - 45%</a:t>
            </a:r>
            <a:endParaRPr sz="1863" dirty="0">
              <a:solidFill>
                <a:schemeClr val="dk1"/>
              </a:solidFill>
            </a:endParaRPr>
          </a:p>
          <a:p>
            <a:pPr marL="457200" lvl="0" indent="-293687" algn="l" rtl="0">
              <a:spcBef>
                <a:spcPts val="0"/>
              </a:spcBef>
              <a:spcAft>
                <a:spcPts val="0"/>
              </a:spcAft>
              <a:buClr>
                <a:schemeClr val="dk1"/>
              </a:buClr>
              <a:buSzPct val="100000"/>
              <a:buChar char="●"/>
            </a:pPr>
            <a:r>
              <a:rPr lang="en" sz="1863" dirty="0">
                <a:solidFill>
                  <a:schemeClr val="dk1"/>
                </a:solidFill>
              </a:rPr>
              <a:t>Doc Flow per Store - 25%</a:t>
            </a:r>
            <a:endParaRPr sz="1863" dirty="0">
              <a:solidFill>
                <a:schemeClr val="dk1"/>
              </a:solidFill>
            </a:endParaRPr>
          </a:p>
          <a:p>
            <a:pPr marL="457200" lvl="0" indent="-293687" algn="l" rtl="0">
              <a:spcBef>
                <a:spcPts val="0"/>
              </a:spcBef>
              <a:spcAft>
                <a:spcPts val="0"/>
              </a:spcAft>
              <a:buClr>
                <a:schemeClr val="dk1"/>
              </a:buClr>
              <a:buSzPct val="100000"/>
              <a:buChar char="●"/>
            </a:pPr>
            <a:r>
              <a:rPr lang="en" sz="1863" dirty="0">
                <a:solidFill>
                  <a:schemeClr val="dk1"/>
                </a:solidFill>
              </a:rPr>
              <a:t>Transaction Velocity - 15%</a:t>
            </a:r>
            <a:endParaRPr sz="1863" dirty="0">
              <a:solidFill>
                <a:schemeClr val="dk1"/>
              </a:solidFill>
            </a:endParaRPr>
          </a:p>
          <a:p>
            <a:pPr marL="457200" lvl="0" indent="-293687" algn="l" rtl="0">
              <a:spcBef>
                <a:spcPts val="0"/>
              </a:spcBef>
              <a:spcAft>
                <a:spcPts val="0"/>
              </a:spcAft>
              <a:buClr>
                <a:schemeClr val="dk1"/>
              </a:buClr>
              <a:buSzPct val="100000"/>
              <a:buChar char="●"/>
            </a:pPr>
            <a:r>
              <a:rPr lang="en" sz="1863" dirty="0">
                <a:solidFill>
                  <a:schemeClr val="dk1"/>
                </a:solidFill>
              </a:rPr>
              <a:t>Years with SPS - 15%</a:t>
            </a:r>
            <a:endParaRPr sz="1863" dirty="0">
              <a:solidFill>
                <a:schemeClr val="dk1"/>
              </a:solidFill>
            </a:endParaRPr>
          </a:p>
          <a:p>
            <a:pPr marL="0" lvl="0" indent="0" algn="l" rtl="0">
              <a:spcBef>
                <a:spcPts val="1200"/>
              </a:spcBef>
              <a:spcAft>
                <a:spcPts val="0"/>
              </a:spcAft>
              <a:buNone/>
            </a:pPr>
            <a:r>
              <a:rPr lang="en" sz="1979" b="1" dirty="0">
                <a:solidFill>
                  <a:schemeClr val="dk1"/>
                </a:solidFill>
              </a:rPr>
              <a:t>Generate final opportunity score</a:t>
            </a:r>
            <a:endParaRPr sz="1979" b="1" dirty="0">
              <a:solidFill>
                <a:schemeClr val="dk1"/>
              </a:solidFill>
            </a:endParaRPr>
          </a:p>
          <a:p>
            <a:pPr marL="457200" lvl="0" indent="-293687" algn="l" rtl="0">
              <a:spcBef>
                <a:spcPts val="1200"/>
              </a:spcBef>
              <a:spcAft>
                <a:spcPts val="0"/>
              </a:spcAft>
              <a:buClr>
                <a:schemeClr val="dk1"/>
              </a:buClr>
              <a:buSzPct val="100000"/>
              <a:buChar char="●"/>
            </a:pPr>
            <a:r>
              <a:rPr lang="en" sz="1863" dirty="0">
                <a:solidFill>
                  <a:schemeClr val="dk1"/>
                </a:solidFill>
              </a:rPr>
              <a:t>Weighted sum of all normalized metrics</a:t>
            </a:r>
            <a:endParaRPr sz="1863" dirty="0">
              <a:solidFill>
                <a:schemeClr val="dk1"/>
              </a:solidFill>
            </a:endParaRPr>
          </a:p>
          <a:p>
            <a:pPr marL="457200" lvl="0" indent="-293687" algn="l" rtl="0">
              <a:spcBef>
                <a:spcPts val="0"/>
              </a:spcBef>
              <a:spcAft>
                <a:spcPts val="0"/>
              </a:spcAft>
              <a:buClr>
                <a:schemeClr val="dk1"/>
              </a:buClr>
              <a:buSzPct val="100000"/>
              <a:buChar char="●"/>
            </a:pPr>
            <a:r>
              <a:rPr lang="en" sz="1863" dirty="0">
                <a:solidFill>
                  <a:schemeClr val="dk1"/>
                </a:solidFill>
              </a:rPr>
              <a:t>Higher = greater opportunity / priority</a:t>
            </a:r>
            <a:endParaRPr sz="1863" dirty="0">
              <a:solidFill>
                <a:schemeClr val="dk1"/>
              </a:solidFill>
            </a:endParaRPr>
          </a:p>
          <a:p>
            <a:pPr marL="0" lvl="0" indent="0" algn="l" rtl="0">
              <a:spcBef>
                <a:spcPts val="1200"/>
              </a:spcBef>
              <a:spcAft>
                <a:spcPts val="0"/>
              </a:spcAft>
              <a:buNone/>
            </a:pPr>
            <a:endParaRPr sz="1250" dirty="0">
              <a:solidFill>
                <a:schemeClr val="dk1"/>
              </a:solidFill>
            </a:endParaRPr>
          </a:p>
          <a:p>
            <a:pPr marL="0" lvl="0" indent="0" algn="l" rtl="0">
              <a:spcBef>
                <a:spcPts val="1200"/>
              </a:spcBef>
              <a:spcAft>
                <a:spcPts val="1200"/>
              </a:spcAft>
              <a:buNone/>
            </a:pPr>
            <a:endParaRPr sz="1200" b="1" dirty="0">
              <a:solidFill>
                <a:schemeClr val="dk1"/>
              </a:solidFill>
            </a:endParaRPr>
          </a:p>
        </p:txBody>
      </p:sp>
      <p:sp>
        <p:nvSpPr>
          <p:cNvPr id="160" name="Google Shape;160;p26"/>
          <p:cNvSpPr txBox="1">
            <a:spLocks noGrp="1"/>
          </p:cNvSpPr>
          <p:nvPr>
            <p:ph type="body" idx="2"/>
          </p:nvPr>
        </p:nvSpPr>
        <p:spPr>
          <a:xfrm>
            <a:off x="4972800" y="939025"/>
            <a:ext cx="3999900" cy="4137900"/>
          </a:xfrm>
          <a:prstGeom prst="rect">
            <a:avLst/>
          </a:prstGeom>
        </p:spPr>
        <p:txBody>
          <a:bodyPr spcFirstLastPara="1" wrap="square" lIns="91425" tIns="91425" rIns="91425" bIns="91425" anchor="t" anchorCtr="0">
            <a:normAutofit fontScale="55000" lnSpcReduction="20000"/>
          </a:bodyPr>
          <a:lstStyle/>
          <a:p>
            <a:pPr marL="0" lvl="0" indent="0" algn="l" rtl="0">
              <a:spcBef>
                <a:spcPts val="0"/>
              </a:spcBef>
              <a:spcAft>
                <a:spcPts val="0"/>
              </a:spcAft>
              <a:buClr>
                <a:schemeClr val="dk1"/>
              </a:buClr>
              <a:buSzPct val="44000"/>
              <a:buFont typeface="Arial"/>
              <a:buNone/>
            </a:pPr>
            <a:r>
              <a:rPr lang="en" sz="2500" b="1"/>
              <a:t>Method 2:</a:t>
            </a:r>
            <a:br>
              <a:rPr lang="en" b="1"/>
            </a:br>
            <a:endParaRPr sz="1000" b="1"/>
          </a:p>
          <a:p>
            <a:pPr marL="0" lvl="0" indent="0" algn="l" rtl="0">
              <a:spcBef>
                <a:spcPts val="1200"/>
              </a:spcBef>
              <a:spcAft>
                <a:spcPts val="0"/>
              </a:spcAft>
              <a:buClr>
                <a:schemeClr val="dk1"/>
              </a:buClr>
              <a:buSzPct val="55555"/>
              <a:buFont typeface="Arial"/>
              <a:buNone/>
            </a:pPr>
            <a:r>
              <a:rPr lang="en" sz="1979" b="1">
                <a:solidFill>
                  <a:schemeClr val="dk1"/>
                </a:solidFill>
              </a:rPr>
              <a:t>Filter based on UPCs</a:t>
            </a:r>
            <a:endParaRPr sz="1979" b="1">
              <a:solidFill>
                <a:schemeClr val="dk1"/>
              </a:solidFill>
            </a:endParaRPr>
          </a:p>
          <a:p>
            <a:pPr marL="457200" lvl="0" indent="-292925" algn="l" rtl="0">
              <a:spcBef>
                <a:spcPts val="1200"/>
              </a:spcBef>
              <a:spcAft>
                <a:spcPts val="0"/>
              </a:spcAft>
              <a:buClr>
                <a:schemeClr val="dk1"/>
              </a:buClr>
              <a:buSzPct val="100000"/>
              <a:buChar char="●"/>
            </a:pPr>
            <a:r>
              <a:rPr lang="en" sz="1841">
                <a:solidFill>
                  <a:schemeClr val="dk1"/>
                </a:solidFill>
              </a:rPr>
              <a:t>Identify store gap based on unique stores and connections</a:t>
            </a:r>
            <a:endParaRPr sz="1841">
              <a:solidFill>
                <a:schemeClr val="dk1"/>
              </a:solidFill>
            </a:endParaRPr>
          </a:p>
          <a:p>
            <a:pPr marL="457200" lvl="0" indent="-292925" algn="l" rtl="0">
              <a:spcBef>
                <a:spcPts val="0"/>
              </a:spcBef>
              <a:spcAft>
                <a:spcPts val="0"/>
              </a:spcAft>
              <a:buClr>
                <a:schemeClr val="dk1"/>
              </a:buClr>
              <a:buSzPct val="100000"/>
              <a:buChar char="●"/>
            </a:pPr>
            <a:r>
              <a:rPr lang="en" sz="1841">
                <a:solidFill>
                  <a:schemeClr val="dk1"/>
                </a:solidFill>
              </a:rPr>
              <a:t>Focuses more on total UPC counts + Doc Flow</a:t>
            </a:r>
            <a:endParaRPr sz="1841">
              <a:solidFill>
                <a:schemeClr val="dk1"/>
              </a:solidFill>
            </a:endParaRPr>
          </a:p>
          <a:p>
            <a:pPr marL="0" lvl="0" indent="0" algn="l" rtl="0">
              <a:spcBef>
                <a:spcPts val="1200"/>
              </a:spcBef>
              <a:spcAft>
                <a:spcPts val="0"/>
              </a:spcAft>
              <a:buClr>
                <a:schemeClr val="dk1"/>
              </a:buClr>
              <a:buSzPct val="55555"/>
              <a:buFont typeface="Arial"/>
              <a:buNone/>
            </a:pPr>
            <a:r>
              <a:rPr lang="en" sz="1979" b="1">
                <a:solidFill>
                  <a:schemeClr val="dk1"/>
                </a:solidFill>
              </a:rPr>
              <a:t>Normalized each metric</a:t>
            </a:r>
            <a:endParaRPr sz="1979" b="1">
              <a:solidFill>
                <a:schemeClr val="dk1"/>
              </a:solidFill>
            </a:endParaRPr>
          </a:p>
          <a:p>
            <a:pPr marL="0" lvl="0" indent="0" algn="l" rtl="0">
              <a:spcBef>
                <a:spcPts val="1200"/>
              </a:spcBef>
              <a:spcAft>
                <a:spcPts val="0"/>
              </a:spcAft>
              <a:buClr>
                <a:schemeClr val="dk1"/>
              </a:buClr>
              <a:buSzPct val="55555"/>
              <a:buFont typeface="Arial"/>
              <a:buNone/>
            </a:pPr>
            <a:r>
              <a:rPr lang="en" sz="1979" b="1">
                <a:solidFill>
                  <a:schemeClr val="dk1"/>
                </a:solidFill>
              </a:rPr>
              <a:t>Apply weighted scoring formula using linearity</a:t>
            </a:r>
            <a:endParaRPr sz="1979" b="1">
              <a:solidFill>
                <a:schemeClr val="dk1"/>
              </a:solidFill>
            </a:endParaRPr>
          </a:p>
          <a:p>
            <a:pPr marL="457200" lvl="0" indent="-293687" algn="l" rtl="0">
              <a:spcBef>
                <a:spcPts val="1200"/>
              </a:spcBef>
              <a:spcAft>
                <a:spcPts val="0"/>
              </a:spcAft>
              <a:buClr>
                <a:schemeClr val="dk1"/>
              </a:buClr>
              <a:buSzPct val="100000"/>
              <a:buChar char="●"/>
            </a:pPr>
            <a:r>
              <a:rPr lang="en" sz="1863">
                <a:solidFill>
                  <a:schemeClr val="dk1"/>
                </a:solidFill>
              </a:rPr>
              <a:t>Doc Flow per Store - 45% (X1)</a:t>
            </a:r>
            <a:endParaRPr sz="1863">
              <a:solidFill>
                <a:schemeClr val="dk1"/>
              </a:solidFill>
            </a:endParaRPr>
          </a:p>
          <a:p>
            <a:pPr marL="457200" lvl="0" indent="-293687" algn="l" rtl="0">
              <a:spcBef>
                <a:spcPts val="0"/>
              </a:spcBef>
              <a:spcAft>
                <a:spcPts val="0"/>
              </a:spcAft>
              <a:buClr>
                <a:schemeClr val="dk1"/>
              </a:buClr>
              <a:buSzPct val="100000"/>
              <a:buChar char="●"/>
            </a:pPr>
            <a:r>
              <a:rPr lang="en" sz="1863">
                <a:solidFill>
                  <a:schemeClr val="dk1"/>
                </a:solidFill>
              </a:rPr>
              <a:t>Valid UPC counts - 40% (X2)</a:t>
            </a:r>
            <a:endParaRPr sz="1863">
              <a:solidFill>
                <a:schemeClr val="dk1"/>
              </a:solidFill>
            </a:endParaRPr>
          </a:p>
          <a:p>
            <a:pPr marL="457200" lvl="0" indent="-293687" algn="l" rtl="0">
              <a:spcBef>
                <a:spcPts val="0"/>
              </a:spcBef>
              <a:spcAft>
                <a:spcPts val="0"/>
              </a:spcAft>
              <a:buClr>
                <a:schemeClr val="dk1"/>
              </a:buClr>
              <a:buSzPct val="100000"/>
              <a:buChar char="●"/>
            </a:pPr>
            <a:r>
              <a:rPr lang="en" sz="1863">
                <a:solidFill>
                  <a:schemeClr val="dk1"/>
                </a:solidFill>
              </a:rPr>
              <a:t>Years with SPS - 5% (X3)</a:t>
            </a:r>
            <a:endParaRPr sz="1863">
              <a:solidFill>
                <a:schemeClr val="dk1"/>
              </a:solidFill>
            </a:endParaRPr>
          </a:p>
          <a:p>
            <a:pPr marL="457200" lvl="0" indent="-293687" algn="l" rtl="0">
              <a:spcBef>
                <a:spcPts val="0"/>
              </a:spcBef>
              <a:spcAft>
                <a:spcPts val="0"/>
              </a:spcAft>
              <a:buClr>
                <a:schemeClr val="dk1"/>
              </a:buClr>
              <a:buSzPct val="100000"/>
              <a:buChar char="●"/>
            </a:pPr>
            <a:r>
              <a:rPr lang="en" sz="1863">
                <a:solidFill>
                  <a:schemeClr val="dk1"/>
                </a:solidFill>
              </a:rPr>
              <a:t>Annual Revenue - 2% (X4)</a:t>
            </a:r>
            <a:endParaRPr sz="1863">
              <a:solidFill>
                <a:schemeClr val="dk1"/>
              </a:solidFill>
            </a:endParaRPr>
          </a:p>
          <a:p>
            <a:pPr marL="0" lvl="0" indent="0" algn="l" rtl="0">
              <a:spcBef>
                <a:spcPts val="1200"/>
              </a:spcBef>
              <a:spcAft>
                <a:spcPts val="0"/>
              </a:spcAft>
              <a:buClr>
                <a:schemeClr val="dk1"/>
              </a:buClr>
              <a:buSzPct val="55555"/>
              <a:buFont typeface="Arial"/>
              <a:buNone/>
            </a:pPr>
            <a:r>
              <a:rPr lang="en" sz="1979" b="1">
                <a:solidFill>
                  <a:schemeClr val="dk1"/>
                </a:solidFill>
              </a:rPr>
              <a:t>Generate final opportunity score</a:t>
            </a:r>
            <a:endParaRPr sz="1979" b="1">
              <a:solidFill>
                <a:schemeClr val="dk1"/>
              </a:solidFill>
            </a:endParaRPr>
          </a:p>
          <a:p>
            <a:pPr marL="457200" lvl="0" indent="-293687" algn="l" rtl="0">
              <a:spcBef>
                <a:spcPts val="1200"/>
              </a:spcBef>
              <a:spcAft>
                <a:spcPts val="0"/>
              </a:spcAft>
              <a:buClr>
                <a:schemeClr val="dk1"/>
              </a:buClr>
              <a:buSzPct val="100000"/>
              <a:buChar char="●"/>
            </a:pPr>
            <a:r>
              <a:rPr lang="en" sz="1863">
                <a:solidFill>
                  <a:schemeClr val="dk1"/>
                </a:solidFill>
              </a:rPr>
              <a:t>Using a linear matrix formula X1+X2+X3+X4 = Score</a:t>
            </a:r>
            <a:endParaRPr sz="1979" b="1">
              <a:solidFill>
                <a:schemeClr val="dk1"/>
              </a:solidFill>
            </a:endParaRPr>
          </a:p>
          <a:p>
            <a:pPr marL="0" lvl="0" indent="0" algn="l" rtl="0">
              <a:spcBef>
                <a:spcPts val="1200"/>
              </a:spcBef>
              <a:spcAft>
                <a:spcPts val="0"/>
              </a:spcAft>
              <a:buClr>
                <a:schemeClr val="dk1"/>
              </a:buClr>
              <a:buSzPct val="55555"/>
              <a:buFont typeface="Arial"/>
              <a:buNone/>
            </a:pPr>
            <a:endParaRPr sz="1979" b="1">
              <a:solidFill>
                <a:schemeClr val="dk1"/>
              </a:solidFill>
            </a:endParaRPr>
          </a:p>
          <a:p>
            <a:pPr marL="0" lvl="0" indent="0" algn="l" rtl="0">
              <a:spcBef>
                <a:spcPts val="1200"/>
              </a:spcBef>
              <a:spcAft>
                <a:spcPts val="0"/>
              </a:spcAft>
              <a:buClr>
                <a:schemeClr val="dk1"/>
              </a:buClr>
              <a:buSzPct val="55555"/>
              <a:buFont typeface="Arial"/>
              <a:buNone/>
            </a:pPr>
            <a:endParaRPr sz="1979" b="1">
              <a:solidFill>
                <a:schemeClr val="dk1"/>
              </a:solidFill>
            </a:endParaRPr>
          </a:p>
          <a:p>
            <a:pPr marL="0" lvl="0" indent="0" algn="l" rtl="0">
              <a:spcBef>
                <a:spcPts val="1200"/>
              </a:spcBef>
              <a:spcAft>
                <a:spcPts val="1200"/>
              </a:spcAft>
              <a:buClr>
                <a:schemeClr val="dk1"/>
              </a:buClr>
              <a:buSzPct val="84615"/>
              <a:buFont typeface="Arial"/>
              <a:buNone/>
            </a:pPr>
            <a:endParaRPr b="1"/>
          </a:p>
        </p:txBody>
      </p:sp>
      <p:sp>
        <p:nvSpPr>
          <p:cNvPr id="161" name="Google Shape;161;p26"/>
          <p:cNvSpPr txBox="1"/>
          <p:nvPr/>
        </p:nvSpPr>
        <p:spPr>
          <a:xfrm>
            <a:off x="5144100" y="4667100"/>
            <a:ext cx="3999900" cy="47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u="sng">
                <a:solidFill>
                  <a:schemeClr val="dk1"/>
                </a:solidFill>
              </a:rPr>
              <a:t>General targeted areas highlighted in next slide</a:t>
            </a:r>
            <a:endParaRPr sz="1300" b="1" u="sng">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7"/>
          <p:cNvSpPr txBox="1">
            <a:spLocks noGrp="1"/>
          </p:cNvSpPr>
          <p:nvPr>
            <p:ph type="title"/>
          </p:nvPr>
        </p:nvSpPr>
        <p:spPr>
          <a:xfrm>
            <a:off x="153000" y="1921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Explored Ranking Methods - Graphs</a:t>
            </a:r>
            <a:endParaRPr/>
          </a:p>
        </p:txBody>
      </p:sp>
      <p:sp>
        <p:nvSpPr>
          <p:cNvPr id="167" name="Google Shape;167;p27"/>
          <p:cNvSpPr txBox="1"/>
          <p:nvPr/>
        </p:nvSpPr>
        <p:spPr>
          <a:xfrm>
            <a:off x="0" y="877150"/>
            <a:ext cx="14412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b="1">
                <a:solidFill>
                  <a:srgbClr val="CCCCCC"/>
                </a:solidFill>
              </a:rPr>
              <a:t>Method 1:</a:t>
            </a:r>
            <a:endParaRPr>
              <a:solidFill>
                <a:srgbClr val="CCCCCC"/>
              </a:solidFill>
            </a:endParaRPr>
          </a:p>
        </p:txBody>
      </p:sp>
      <p:sp>
        <p:nvSpPr>
          <p:cNvPr id="168" name="Google Shape;168;p27"/>
          <p:cNvSpPr txBox="1"/>
          <p:nvPr/>
        </p:nvSpPr>
        <p:spPr>
          <a:xfrm>
            <a:off x="4645550" y="877150"/>
            <a:ext cx="14412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b="1">
                <a:solidFill>
                  <a:srgbClr val="CCCCCC"/>
                </a:solidFill>
              </a:rPr>
              <a:t>Method 2:</a:t>
            </a:r>
            <a:endParaRPr>
              <a:solidFill>
                <a:srgbClr val="CCCCCC"/>
              </a:solidFill>
            </a:endParaRPr>
          </a:p>
        </p:txBody>
      </p:sp>
      <p:pic>
        <p:nvPicPr>
          <p:cNvPr id="169" name="Google Shape;169;p27"/>
          <p:cNvPicPr preferRelativeResize="0"/>
          <p:nvPr/>
        </p:nvPicPr>
        <p:blipFill rotWithShape="1">
          <a:blip r:embed="rId3">
            <a:alphaModFix/>
          </a:blip>
          <a:srcRect t="-2403" r="21067" b="-328"/>
          <a:stretch/>
        </p:blipFill>
        <p:spPr>
          <a:xfrm>
            <a:off x="79000" y="1277350"/>
            <a:ext cx="4467499" cy="3873001"/>
          </a:xfrm>
          <a:prstGeom prst="rect">
            <a:avLst/>
          </a:prstGeom>
          <a:noFill/>
          <a:ln>
            <a:noFill/>
          </a:ln>
        </p:spPr>
      </p:pic>
      <p:pic>
        <p:nvPicPr>
          <p:cNvPr id="170" name="Google Shape;170;p27"/>
          <p:cNvPicPr preferRelativeResize="0"/>
          <p:nvPr/>
        </p:nvPicPr>
        <p:blipFill rotWithShape="1">
          <a:blip r:embed="rId4">
            <a:alphaModFix/>
          </a:blip>
          <a:srcRect l="451" r="20422" b="-1708"/>
          <a:stretch/>
        </p:blipFill>
        <p:spPr>
          <a:xfrm>
            <a:off x="4585744" y="1362906"/>
            <a:ext cx="4493149" cy="3846974"/>
          </a:xfrm>
          <a:prstGeom prst="rect">
            <a:avLst/>
          </a:prstGeom>
          <a:noFill/>
          <a:ln>
            <a:noFill/>
          </a:ln>
        </p:spPr>
      </p:pic>
      <p:pic>
        <p:nvPicPr>
          <p:cNvPr id="171" name="Google Shape;171;p27"/>
          <p:cNvPicPr preferRelativeResize="0"/>
          <p:nvPr/>
        </p:nvPicPr>
        <p:blipFill>
          <a:blip r:embed="rId5">
            <a:alphaModFix/>
          </a:blip>
          <a:stretch>
            <a:fillRect/>
          </a:stretch>
        </p:blipFill>
        <p:spPr>
          <a:xfrm>
            <a:off x="7093463" y="147813"/>
            <a:ext cx="1971675" cy="9048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8"/>
          <p:cNvSpPr txBox="1">
            <a:spLocks noGrp="1"/>
          </p:cNvSpPr>
          <p:nvPr>
            <p:ph type="title"/>
          </p:nvPr>
        </p:nvSpPr>
        <p:spPr>
          <a:xfrm>
            <a:off x="259975" y="2602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Final Ranking Approach</a:t>
            </a:r>
            <a:endParaRPr/>
          </a:p>
        </p:txBody>
      </p:sp>
      <p:sp>
        <p:nvSpPr>
          <p:cNvPr id="177" name="Google Shape;177;p28"/>
          <p:cNvSpPr txBox="1">
            <a:spLocks noGrp="1"/>
          </p:cNvSpPr>
          <p:nvPr>
            <p:ph type="body" idx="1"/>
          </p:nvPr>
        </p:nvSpPr>
        <p:spPr>
          <a:xfrm>
            <a:off x="370825" y="1566300"/>
            <a:ext cx="3999900" cy="35772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100"/>
              <a:buFont typeface="Arial"/>
              <a:buNone/>
            </a:pPr>
            <a:r>
              <a:rPr lang="en" sz="1100" b="1">
                <a:solidFill>
                  <a:schemeClr val="dk1"/>
                </a:solidFill>
              </a:rPr>
              <a:t>Rank key metrics using percentile ranks</a:t>
            </a:r>
            <a:endParaRPr sz="1100" b="1">
              <a:solidFill>
                <a:schemeClr val="dk1"/>
              </a:solidFill>
            </a:endParaRPr>
          </a:p>
          <a:p>
            <a:pPr marL="457200" lvl="0" indent="-298450" algn="l" rtl="0">
              <a:spcBef>
                <a:spcPts val="1200"/>
              </a:spcBef>
              <a:spcAft>
                <a:spcPts val="0"/>
              </a:spcAft>
              <a:buClr>
                <a:schemeClr val="dk1"/>
              </a:buClr>
              <a:buSzPts val="1100"/>
              <a:buChar char="●"/>
            </a:pPr>
            <a:r>
              <a:rPr lang="en" sz="1100" b="1">
                <a:solidFill>
                  <a:schemeClr val="dk1"/>
                </a:solidFill>
              </a:rPr>
              <a:t>Flow Rank:</a:t>
            </a:r>
            <a:r>
              <a:rPr lang="en" sz="1100">
                <a:solidFill>
                  <a:schemeClr val="dk1"/>
                </a:solidFill>
              </a:rPr>
              <a:t> Percentile rank of monthly average document flow</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Gap Rank:</a:t>
            </a:r>
            <a:r>
              <a:rPr lang="en" sz="1100">
                <a:solidFill>
                  <a:schemeClr val="dk1"/>
                </a:solidFill>
              </a:rPr>
              <a:t> Percentile rank of the store gap metric</a:t>
            </a:r>
            <a:endParaRPr sz="1100">
              <a:solidFill>
                <a:schemeClr val="dk1"/>
              </a:solidFill>
            </a:endParaRPr>
          </a:p>
          <a:p>
            <a:pPr marL="0" lvl="0" indent="0" algn="l" rtl="0">
              <a:spcBef>
                <a:spcPts val="1200"/>
              </a:spcBef>
              <a:spcAft>
                <a:spcPts val="0"/>
              </a:spcAft>
              <a:buNone/>
            </a:pPr>
            <a:r>
              <a:rPr lang="en" sz="1100" b="1">
                <a:solidFill>
                  <a:schemeClr val="dk1"/>
                </a:solidFill>
              </a:rPr>
              <a:t>Compute composite score</a:t>
            </a:r>
            <a:endParaRPr sz="1100" b="1">
              <a:solidFill>
                <a:schemeClr val="dk1"/>
              </a:solidFill>
            </a:endParaRPr>
          </a:p>
          <a:p>
            <a:pPr marL="457200" lvl="0" indent="-298450" algn="l" rtl="0">
              <a:spcBef>
                <a:spcPts val="1200"/>
              </a:spcBef>
              <a:spcAft>
                <a:spcPts val="0"/>
              </a:spcAft>
              <a:buClr>
                <a:schemeClr val="dk1"/>
              </a:buClr>
              <a:buSzPts val="1100"/>
              <a:buChar char="●"/>
            </a:pPr>
            <a:r>
              <a:rPr lang="en" sz="1100" b="1">
                <a:solidFill>
                  <a:schemeClr val="dk1"/>
                </a:solidFill>
              </a:rPr>
              <a:t>40%</a:t>
            </a:r>
            <a:r>
              <a:rPr lang="en" sz="1100">
                <a:solidFill>
                  <a:schemeClr val="dk1"/>
                </a:solidFill>
              </a:rPr>
              <a:t> Document Flow Rank</a:t>
            </a:r>
            <a:endParaRPr sz="1100">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60%</a:t>
            </a:r>
            <a:r>
              <a:rPr lang="en" sz="1100">
                <a:solidFill>
                  <a:schemeClr val="dk1"/>
                </a:solidFill>
              </a:rPr>
              <a:t> Store Gap Rank</a:t>
            </a:r>
            <a:endParaRPr sz="1100">
              <a:solidFill>
                <a:schemeClr val="dk1"/>
              </a:solidFill>
            </a:endParaRPr>
          </a:p>
          <a:p>
            <a:pPr marL="0" lvl="0" indent="0" algn="l" rtl="0">
              <a:spcBef>
                <a:spcPts val="1200"/>
              </a:spcBef>
              <a:spcAft>
                <a:spcPts val="0"/>
              </a:spcAft>
              <a:buNone/>
            </a:pPr>
            <a:r>
              <a:rPr lang="en" sz="1100" b="1">
                <a:solidFill>
                  <a:schemeClr val="dk1"/>
                </a:solidFill>
              </a:rPr>
              <a:t>Filter and select top targets</a:t>
            </a:r>
            <a:endParaRPr sz="1100" b="1">
              <a:solidFill>
                <a:schemeClr val="dk1"/>
              </a:solidFill>
            </a:endParaRPr>
          </a:p>
          <a:p>
            <a:pPr marL="457200" lvl="0" indent="-298450" algn="l" rtl="0">
              <a:spcBef>
                <a:spcPts val="1200"/>
              </a:spcBef>
              <a:spcAft>
                <a:spcPts val="0"/>
              </a:spcAft>
              <a:buClr>
                <a:schemeClr val="dk1"/>
              </a:buClr>
              <a:buSzPts val="1100"/>
              <a:buChar char="●"/>
            </a:pPr>
            <a:r>
              <a:rPr lang="en" sz="1100">
                <a:solidFill>
                  <a:schemeClr val="dk1"/>
                </a:solidFill>
              </a:rPr>
              <a:t>Only include orgs where </a:t>
            </a:r>
            <a:r>
              <a:rPr lang="en" sz="1100" b="1">
                <a:solidFill>
                  <a:schemeClr val="dk1"/>
                </a:solidFill>
              </a:rPr>
              <a:t>store_gap &gt; 0</a:t>
            </a:r>
            <a:endParaRPr sz="1100" b="1">
              <a:solidFill>
                <a:schemeClr val="dk1"/>
              </a:solidFill>
            </a:endParaRPr>
          </a:p>
          <a:p>
            <a:pPr marL="457200" lvl="0" indent="-298450" algn="l" rtl="0">
              <a:spcBef>
                <a:spcPts val="0"/>
              </a:spcBef>
              <a:spcAft>
                <a:spcPts val="0"/>
              </a:spcAft>
              <a:buClr>
                <a:schemeClr val="dk1"/>
              </a:buClr>
              <a:buSzPts val="1100"/>
              <a:buChar char="●"/>
            </a:pPr>
            <a:r>
              <a:rPr lang="en" sz="1100" b="1">
                <a:solidFill>
                  <a:schemeClr val="dk1"/>
                </a:solidFill>
              </a:rPr>
              <a:t>Top 100</a:t>
            </a:r>
            <a:r>
              <a:rPr lang="en" sz="1100">
                <a:solidFill>
                  <a:schemeClr val="dk1"/>
                </a:solidFill>
              </a:rPr>
              <a:t> organizations by highest composite score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9"/>
          <p:cNvSpPr txBox="1">
            <a:spLocks noGrp="1"/>
          </p:cNvSpPr>
          <p:nvPr>
            <p:ph type="title"/>
          </p:nvPr>
        </p:nvSpPr>
        <p:spPr>
          <a:xfrm>
            <a:off x="1676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Final Ranking Approach - Graph</a:t>
            </a:r>
            <a:endParaRPr/>
          </a:p>
        </p:txBody>
      </p:sp>
      <p:pic>
        <p:nvPicPr>
          <p:cNvPr id="183" name="Google Shape;183;p29"/>
          <p:cNvPicPr preferRelativeResize="0"/>
          <p:nvPr/>
        </p:nvPicPr>
        <p:blipFill>
          <a:blip r:embed="rId3">
            <a:alphaModFix/>
          </a:blip>
          <a:stretch>
            <a:fillRect/>
          </a:stretch>
        </p:blipFill>
        <p:spPr>
          <a:xfrm>
            <a:off x="7031313" y="173538"/>
            <a:ext cx="1971675" cy="904875"/>
          </a:xfrm>
          <a:prstGeom prst="rect">
            <a:avLst/>
          </a:prstGeom>
          <a:noFill/>
          <a:ln>
            <a:noFill/>
          </a:ln>
        </p:spPr>
      </p:pic>
      <p:pic>
        <p:nvPicPr>
          <p:cNvPr id="184" name="Google Shape;184;p29"/>
          <p:cNvPicPr preferRelativeResize="0"/>
          <p:nvPr/>
        </p:nvPicPr>
        <p:blipFill>
          <a:blip r:embed="rId4">
            <a:alphaModFix/>
          </a:blip>
          <a:stretch>
            <a:fillRect/>
          </a:stretch>
        </p:blipFill>
        <p:spPr>
          <a:xfrm>
            <a:off x="2244725" y="1306625"/>
            <a:ext cx="4477850" cy="37956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1"/>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Problems Encountered</a:t>
            </a:r>
            <a:endParaRPr/>
          </a:p>
        </p:txBody>
      </p:sp>
      <p:sp>
        <p:nvSpPr>
          <p:cNvPr id="196" name="Google Shape;196;p31"/>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For the future, we have to account for emojis of all things as this messed up our python scripts when trying to name things automatically.</a:t>
            </a:r>
            <a:endParaRPr/>
          </a:p>
          <a:p>
            <a:pPr marL="457200" lvl="0" indent="-311150" algn="l" rtl="0">
              <a:spcBef>
                <a:spcPts val="0"/>
              </a:spcBef>
              <a:spcAft>
                <a:spcPts val="0"/>
              </a:spcAft>
              <a:buSzPts val="1300"/>
              <a:buChar char="-"/>
            </a:pPr>
            <a:r>
              <a:rPr lang="en"/>
              <a:t>All data pulled should also be verified. There are some UPCs that didn’t get named properly, though they are accounted for as far as a UPC for that organization.</a:t>
            </a:r>
            <a:endParaRPr/>
          </a:p>
          <a:p>
            <a:pPr marL="457200" lvl="0" indent="-311150" algn="l" rtl="0">
              <a:spcBef>
                <a:spcPts val="0"/>
              </a:spcBef>
              <a:spcAft>
                <a:spcPts val="0"/>
              </a:spcAft>
              <a:buSzPts val="1300"/>
              <a:buChar char="-"/>
            </a:pPr>
            <a:r>
              <a:rPr lang="en"/>
              <a:t>Unifying the data between not just people, but groups is very difficult. Not to mention, ensuring that no problems occur when transferring data.</a:t>
            </a:r>
            <a:endParaRPr/>
          </a:p>
          <a:p>
            <a:pPr marL="457200" lvl="0" indent="-311150" algn="l" rtl="0">
              <a:spcBef>
                <a:spcPts val="0"/>
              </a:spcBef>
              <a:spcAft>
                <a:spcPts val="0"/>
              </a:spcAft>
              <a:buSzPts val="1300"/>
              <a:buChar char="-"/>
            </a:pPr>
            <a:r>
              <a:rPr lang="en"/>
              <a:t>Some products pulled have a max value of 0 and a min value of 0. These could be discontinued or generally not sold to the public and probably shouldn’t be considered, but it would take more scripting and work to eliminate these from the weights than time allows.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2"/>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Future Considerations</a:t>
            </a:r>
            <a:endParaRPr/>
          </a:p>
        </p:txBody>
      </p:sp>
      <p:sp>
        <p:nvSpPr>
          <p:cNvPr id="202" name="Google Shape;202;p32"/>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With the advancement of technology and, given more time, AI could be used to investigate more potential customer contacts. (Keras can be used to spot potential outliers, for example.) </a:t>
            </a:r>
            <a:endParaRPr/>
          </a:p>
          <a:p>
            <a:pPr marL="0" lvl="0" indent="0" algn="l" rtl="0">
              <a:spcBef>
                <a:spcPts val="1200"/>
              </a:spcBef>
              <a:spcAft>
                <a:spcPts val="1200"/>
              </a:spcAft>
              <a:buNone/>
            </a:pPr>
            <a:r>
              <a:rPr lang="en"/>
              <a:t>While we had a lot of information from the company itself, we don’t have data regarding successful or failure of outreaches. If we had results from previous years and how successful their outreaches have been for instance, we can much better weigh the top opportunities.</a:t>
            </a:r>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1801</Words>
  <Application>Microsoft Office PowerPoint</Application>
  <PresentationFormat>On-screen Show (16:9)</PresentationFormat>
  <Paragraphs>171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Merriweather</vt:lpstr>
      <vt:lpstr>Arial</vt:lpstr>
      <vt:lpstr>Roboto</vt:lpstr>
      <vt:lpstr>Paradigm</vt:lpstr>
      <vt:lpstr>Project Scope</vt:lpstr>
      <vt:lpstr>Steps Performed (Overview)</vt:lpstr>
      <vt:lpstr>Data Processing Pipeline</vt:lpstr>
      <vt:lpstr>Final 450K Sample</vt:lpstr>
      <vt:lpstr>Modeling and Exploration</vt:lpstr>
      <vt:lpstr>Exploratory Data Analysis</vt:lpstr>
      <vt:lpstr>Explored Ranking Methods</vt:lpstr>
      <vt:lpstr>Explored Ranking Methods - Graphs</vt:lpstr>
      <vt:lpstr>Final Ranking Approach</vt:lpstr>
      <vt:lpstr>Final Ranking Approach - Graph</vt:lpstr>
      <vt:lpstr>Problems Encountered</vt:lpstr>
      <vt:lpstr>Future Considerations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Scope</dc:title>
  <cp:lastModifiedBy>Smith, Kyle J</cp:lastModifiedBy>
  <cp:revision>1</cp:revision>
  <dcterms:modified xsi:type="dcterms:W3CDTF">2025-12-15T20:38:24Z</dcterms:modified>
</cp:coreProperties>
</file>